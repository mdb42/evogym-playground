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2" r:id="rId3"/>
    <p:sldId id="275" r:id="rId4"/>
    <p:sldId id="257" r:id="rId5"/>
    <p:sldId id="258" r:id="rId6"/>
    <p:sldId id="259" r:id="rId7"/>
    <p:sldId id="263" r:id="rId8"/>
    <p:sldId id="266" r:id="rId9"/>
    <p:sldId id="267" r:id="rId10"/>
    <p:sldId id="264" r:id="rId11"/>
    <p:sldId id="265" r:id="rId12"/>
    <p:sldId id="268" r:id="rId13"/>
    <p:sldId id="270" r:id="rId14"/>
    <p:sldId id="271" r:id="rId15"/>
    <p:sldId id="276" r:id="rId16"/>
    <p:sldId id="260" r:id="rId17"/>
    <p:sldId id="261" r:id="rId18"/>
    <p:sldId id="26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67986" autoAdjust="0"/>
  </p:normalViewPr>
  <p:slideViewPr>
    <p:cSldViewPr snapToGrid="0">
      <p:cViewPr>
        <p:scale>
          <a:sx n="75" d="100"/>
          <a:sy n="75" d="100"/>
        </p:scale>
        <p:origin x="2112"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07EAC6-926C-468F-B47F-C7493E2FB1F0}" type="datetimeFigureOut">
              <a:rPr lang="en-US" smtClean="0"/>
              <a:t>7/21/2025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EE3487-E102-4118-81D3-D3B39CF3232E}" type="slidenum">
              <a:rPr lang="en-US" smtClean="0"/>
              <a:t>‹#›</a:t>
            </a:fld>
            <a:endParaRPr lang="en-US"/>
          </a:p>
        </p:txBody>
      </p:sp>
    </p:spTree>
    <p:extLst>
      <p:ext uri="{BB962C8B-B14F-4D97-AF65-F5344CB8AC3E}">
        <p14:creationId xmlns:p14="http://schemas.microsoft.com/office/powerpoint/2010/main" val="3789054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E3487-E102-4118-81D3-D3B39CF3232E}" type="slidenum">
              <a:rPr lang="en-US" smtClean="0"/>
              <a:t>1</a:t>
            </a:fld>
            <a:endParaRPr lang="en-US"/>
          </a:p>
        </p:txBody>
      </p:sp>
    </p:spTree>
    <p:extLst>
      <p:ext uri="{BB962C8B-B14F-4D97-AF65-F5344CB8AC3E}">
        <p14:creationId xmlns:p14="http://schemas.microsoft.com/office/powerpoint/2010/main" val="2626868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C35A7-86C9-20A0-224B-E2FC46A60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FCBD5-185F-D5C6-3E3C-A220C3018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BBD44-A928-CDB1-B29C-C4D57BFCB457}"/>
              </a:ext>
            </a:extLst>
          </p:cNvPr>
          <p:cNvSpPr>
            <a:spLocks noGrp="1"/>
          </p:cNvSpPr>
          <p:nvPr>
            <p:ph type="body" idx="1"/>
          </p:nvPr>
        </p:nvSpPr>
        <p:spPr/>
        <p:txBody>
          <a:bodyPr/>
          <a:lstStyle/>
          <a:p>
            <a:pPr marL="0" indent="0">
              <a:buNone/>
            </a:pPr>
            <a:r>
              <a:rPr lang="en-US" dirty="0"/>
              <a:t>Goal: Set the context of your presentation.</a:t>
            </a:r>
          </a:p>
          <a:p>
            <a:pPr marL="0" indent="0">
              <a:buNone/>
            </a:pPr>
            <a:r>
              <a:rPr lang="en-US" dirty="0"/>
              <a:t> • Brief overview of the project topic and its significance.</a:t>
            </a:r>
          </a:p>
          <a:p>
            <a:pPr marL="0" indent="0">
              <a:buNone/>
            </a:pPr>
            <a:r>
              <a:rPr lang="en-US" dirty="0"/>
              <a:t> • Clearly state the research objectives or goals.</a:t>
            </a:r>
          </a:p>
          <a:p>
            <a:pPr marL="0" indent="0">
              <a:buNone/>
            </a:pPr>
            <a:r>
              <a:rPr lang="en-US" dirty="0"/>
              <a:t> • Brief summary of the problem or gap that your research addresses.</a:t>
            </a:r>
          </a:p>
          <a:p>
            <a:endParaRPr lang="en-US" dirty="0"/>
          </a:p>
        </p:txBody>
      </p:sp>
      <p:sp>
        <p:nvSpPr>
          <p:cNvPr id="4" name="Slide Number Placeholder 3">
            <a:extLst>
              <a:ext uri="{FF2B5EF4-FFF2-40B4-BE49-F238E27FC236}">
                <a16:creationId xmlns:a16="http://schemas.microsoft.com/office/drawing/2014/main" id="{E25C7220-A95B-BC7F-9C82-F5780AFD74AD}"/>
              </a:ext>
            </a:extLst>
          </p:cNvPr>
          <p:cNvSpPr>
            <a:spLocks noGrp="1"/>
          </p:cNvSpPr>
          <p:nvPr>
            <p:ph type="sldNum" sz="quarter" idx="5"/>
          </p:nvPr>
        </p:nvSpPr>
        <p:spPr/>
        <p:txBody>
          <a:bodyPr/>
          <a:lstStyle/>
          <a:p>
            <a:fld id="{61EE3487-E102-4118-81D3-D3B39CF3232E}" type="slidenum">
              <a:rPr lang="en-US" smtClean="0"/>
              <a:t>2</a:t>
            </a:fld>
            <a:endParaRPr lang="en-US"/>
          </a:p>
        </p:txBody>
      </p:sp>
    </p:spTree>
    <p:extLst>
      <p:ext uri="{BB962C8B-B14F-4D97-AF65-F5344CB8AC3E}">
        <p14:creationId xmlns:p14="http://schemas.microsoft.com/office/powerpoint/2010/main" val="1890724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E3068-EADB-1D03-9E4D-896C95A4F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D1ECF-AAD3-C74A-2D19-6A207319C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0A8F3-C485-0DEA-B9B2-FB7621854375}"/>
              </a:ext>
            </a:extLst>
          </p:cNvPr>
          <p:cNvSpPr>
            <a:spLocks noGrp="1"/>
          </p:cNvSpPr>
          <p:nvPr>
            <p:ph type="body" idx="1"/>
          </p:nvPr>
        </p:nvSpPr>
        <p:spPr/>
        <p:txBody>
          <a:bodyPr/>
          <a:lstStyle/>
          <a:p>
            <a:pPr marL="0" indent="0">
              <a:buNone/>
            </a:pPr>
            <a:r>
              <a:rPr lang="en-US" dirty="0"/>
              <a:t>Goal: Set the context of your presentation.</a:t>
            </a:r>
          </a:p>
          <a:p>
            <a:pPr marL="0" indent="0">
              <a:buNone/>
            </a:pPr>
            <a:r>
              <a:rPr lang="en-US" dirty="0"/>
              <a:t> • Brief overview of the project topic and its significance.</a:t>
            </a:r>
          </a:p>
          <a:p>
            <a:pPr marL="0" indent="0">
              <a:buNone/>
            </a:pPr>
            <a:r>
              <a:rPr lang="en-US" dirty="0"/>
              <a:t> • Clearly state the research objectives or goals.</a:t>
            </a:r>
          </a:p>
          <a:p>
            <a:pPr marL="0" indent="0">
              <a:buNone/>
            </a:pPr>
            <a:r>
              <a:rPr lang="en-US" dirty="0"/>
              <a:t> • Brief summary of the problem or gap that your research addresses.</a:t>
            </a:r>
          </a:p>
          <a:p>
            <a:endParaRPr lang="en-US" dirty="0"/>
          </a:p>
        </p:txBody>
      </p:sp>
      <p:sp>
        <p:nvSpPr>
          <p:cNvPr id="4" name="Slide Number Placeholder 3">
            <a:extLst>
              <a:ext uri="{FF2B5EF4-FFF2-40B4-BE49-F238E27FC236}">
                <a16:creationId xmlns:a16="http://schemas.microsoft.com/office/drawing/2014/main" id="{57357016-5EEB-B8A3-B2C1-9DFCA4185A75}"/>
              </a:ext>
            </a:extLst>
          </p:cNvPr>
          <p:cNvSpPr>
            <a:spLocks noGrp="1"/>
          </p:cNvSpPr>
          <p:nvPr>
            <p:ph type="sldNum" sz="quarter" idx="5"/>
          </p:nvPr>
        </p:nvSpPr>
        <p:spPr/>
        <p:txBody>
          <a:bodyPr/>
          <a:lstStyle/>
          <a:p>
            <a:fld id="{61EE3487-E102-4118-81D3-D3B39CF3232E}" type="slidenum">
              <a:rPr lang="en-US" smtClean="0"/>
              <a:t>3</a:t>
            </a:fld>
            <a:endParaRPr lang="en-US"/>
          </a:p>
        </p:txBody>
      </p:sp>
    </p:spTree>
    <p:extLst>
      <p:ext uri="{BB962C8B-B14F-4D97-AF65-F5344CB8AC3E}">
        <p14:creationId xmlns:p14="http://schemas.microsoft.com/office/powerpoint/2010/main" val="1946097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Goal: Set the context of your presentation.</a:t>
            </a:r>
          </a:p>
          <a:p>
            <a:pPr marL="0" indent="0">
              <a:buNone/>
            </a:pPr>
            <a:r>
              <a:rPr lang="en-US" dirty="0"/>
              <a:t> • Brief overview of the project topic and its significance.</a:t>
            </a:r>
          </a:p>
          <a:p>
            <a:pPr marL="0" indent="0">
              <a:buNone/>
            </a:pPr>
            <a:r>
              <a:rPr lang="en-US" dirty="0"/>
              <a:t> • Clearly state the research objectives or goals.</a:t>
            </a:r>
          </a:p>
          <a:p>
            <a:pPr marL="0" indent="0">
              <a:buNone/>
            </a:pPr>
            <a:r>
              <a:rPr lang="en-US" dirty="0"/>
              <a:t> • Brief summary of the problem or gap that your research addresses.</a:t>
            </a:r>
          </a:p>
          <a:p>
            <a:endParaRPr lang="en-US" dirty="0"/>
          </a:p>
        </p:txBody>
      </p:sp>
      <p:sp>
        <p:nvSpPr>
          <p:cNvPr id="4" name="Slide Number Placeholder 3"/>
          <p:cNvSpPr>
            <a:spLocks noGrp="1"/>
          </p:cNvSpPr>
          <p:nvPr>
            <p:ph type="sldNum" sz="quarter" idx="5"/>
          </p:nvPr>
        </p:nvSpPr>
        <p:spPr/>
        <p:txBody>
          <a:bodyPr/>
          <a:lstStyle/>
          <a:p>
            <a:fld id="{61EE3487-E102-4118-81D3-D3B39CF3232E}" type="slidenum">
              <a:rPr lang="en-US" smtClean="0"/>
              <a:t>4</a:t>
            </a:fld>
            <a:endParaRPr lang="en-US"/>
          </a:p>
        </p:txBody>
      </p:sp>
    </p:spTree>
    <p:extLst>
      <p:ext uri="{BB962C8B-B14F-4D97-AF65-F5344CB8AC3E}">
        <p14:creationId xmlns:p14="http://schemas.microsoft.com/office/powerpoint/2010/main" val="4255245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94E79-808E-07CE-CC4C-F5D850B52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2BDEE0-1DA4-5833-ACD6-7457FA6A08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821D9E-70E6-BC1A-902A-F4B7929F0687}"/>
              </a:ext>
            </a:extLst>
          </p:cNvPr>
          <p:cNvSpPr>
            <a:spLocks noGrp="1"/>
          </p:cNvSpPr>
          <p:nvPr>
            <p:ph type="body" idx="1"/>
          </p:nvPr>
        </p:nvSpPr>
        <p:spPr/>
        <p:txBody>
          <a:bodyPr/>
          <a:lstStyle/>
          <a:p>
            <a:pPr marL="0" indent="0">
              <a:buNone/>
            </a:pPr>
            <a:r>
              <a:rPr lang="en-US" dirty="0"/>
              <a:t> Goal: Define the problem or research question you’re addressing.</a:t>
            </a:r>
          </a:p>
          <a:p>
            <a:pPr marL="0" indent="0">
              <a:buNone/>
            </a:pPr>
            <a:r>
              <a:rPr lang="en-US" dirty="0"/>
              <a:t> • Clearly define the problem or research question.</a:t>
            </a:r>
          </a:p>
          <a:p>
            <a:pPr marL="0" indent="0">
              <a:buNone/>
            </a:pPr>
            <a:r>
              <a:rPr lang="en-US" dirty="0"/>
              <a:t> • Explain why this problem is important.</a:t>
            </a:r>
          </a:p>
          <a:p>
            <a:pPr marL="0" indent="0">
              <a:buNone/>
            </a:pPr>
            <a:r>
              <a:rPr lang="en-US" dirty="0"/>
              <a:t> • If applicable, state any hypotheses you are testing.</a:t>
            </a:r>
          </a:p>
          <a:p>
            <a:endParaRPr lang="en-US" dirty="0"/>
          </a:p>
        </p:txBody>
      </p:sp>
      <p:sp>
        <p:nvSpPr>
          <p:cNvPr id="4" name="Slide Number Placeholder 3">
            <a:extLst>
              <a:ext uri="{FF2B5EF4-FFF2-40B4-BE49-F238E27FC236}">
                <a16:creationId xmlns:a16="http://schemas.microsoft.com/office/drawing/2014/main" id="{90174FD9-9BAD-A006-69E1-8C29F37A094E}"/>
              </a:ext>
            </a:extLst>
          </p:cNvPr>
          <p:cNvSpPr>
            <a:spLocks noGrp="1"/>
          </p:cNvSpPr>
          <p:nvPr>
            <p:ph type="sldNum" sz="quarter" idx="5"/>
          </p:nvPr>
        </p:nvSpPr>
        <p:spPr/>
        <p:txBody>
          <a:bodyPr/>
          <a:lstStyle/>
          <a:p>
            <a:fld id="{61EE3487-E102-4118-81D3-D3B39CF3232E}" type="slidenum">
              <a:rPr lang="en-US" smtClean="0"/>
              <a:t>5</a:t>
            </a:fld>
            <a:endParaRPr lang="en-US"/>
          </a:p>
        </p:txBody>
      </p:sp>
    </p:spTree>
    <p:extLst>
      <p:ext uri="{BB962C8B-B14F-4D97-AF65-F5344CB8AC3E}">
        <p14:creationId xmlns:p14="http://schemas.microsoft.com/office/powerpoint/2010/main" val="160382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BF80-DC97-F4B4-0DEA-5605346E4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B294A-8EE3-2098-12A0-B379A27B6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E70FD-75DE-815E-1E9D-417F1B5063D5}"/>
              </a:ext>
            </a:extLst>
          </p:cNvPr>
          <p:cNvSpPr>
            <a:spLocks noGrp="1"/>
          </p:cNvSpPr>
          <p:nvPr>
            <p:ph type="body" idx="1"/>
          </p:nvPr>
        </p:nvSpPr>
        <p:spPr/>
        <p:txBody>
          <a:bodyPr/>
          <a:lstStyle/>
          <a:p>
            <a:pPr marL="0" indent="0">
              <a:buNone/>
            </a:pPr>
            <a:r>
              <a:rPr lang="en-US" dirty="0"/>
              <a:t>Goal: Outline the approach and methods you are using in your research.</a:t>
            </a:r>
          </a:p>
          <a:p>
            <a:pPr marL="0" indent="0">
              <a:buNone/>
            </a:pPr>
            <a:r>
              <a:rPr lang="en-US" dirty="0"/>
              <a:t> • Research design</a:t>
            </a:r>
          </a:p>
          <a:p>
            <a:pPr marL="0" indent="0">
              <a:buNone/>
            </a:pPr>
            <a:r>
              <a:rPr lang="en-US" dirty="0"/>
              <a:t> • Data collection methods, if applicable</a:t>
            </a:r>
          </a:p>
          <a:p>
            <a:pPr marL="0" indent="0">
              <a:buNone/>
            </a:pPr>
            <a:r>
              <a:rPr lang="en-US" dirty="0"/>
              <a:t> • Tools and technologies used (software, simulations).</a:t>
            </a:r>
          </a:p>
          <a:p>
            <a:endParaRPr lang="en-US" dirty="0"/>
          </a:p>
        </p:txBody>
      </p:sp>
      <p:sp>
        <p:nvSpPr>
          <p:cNvPr id="4" name="Slide Number Placeholder 3">
            <a:extLst>
              <a:ext uri="{FF2B5EF4-FFF2-40B4-BE49-F238E27FC236}">
                <a16:creationId xmlns:a16="http://schemas.microsoft.com/office/drawing/2014/main" id="{F332B5FD-B1C4-14D9-0C8D-8B1BA189AEBC}"/>
              </a:ext>
            </a:extLst>
          </p:cNvPr>
          <p:cNvSpPr>
            <a:spLocks noGrp="1"/>
          </p:cNvSpPr>
          <p:nvPr>
            <p:ph type="sldNum" sz="quarter" idx="5"/>
          </p:nvPr>
        </p:nvSpPr>
        <p:spPr/>
        <p:txBody>
          <a:bodyPr/>
          <a:lstStyle/>
          <a:p>
            <a:fld id="{61EE3487-E102-4118-81D3-D3B39CF3232E}" type="slidenum">
              <a:rPr lang="en-US" smtClean="0"/>
              <a:t>6</a:t>
            </a:fld>
            <a:endParaRPr lang="en-US"/>
          </a:p>
        </p:txBody>
      </p:sp>
    </p:spTree>
    <p:extLst>
      <p:ext uri="{BB962C8B-B14F-4D97-AF65-F5344CB8AC3E}">
        <p14:creationId xmlns:p14="http://schemas.microsoft.com/office/powerpoint/2010/main" val="2074993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E3487-E102-4118-81D3-D3B39CF3232E}" type="slidenum">
              <a:rPr lang="en-US" smtClean="0"/>
              <a:t>7</a:t>
            </a:fld>
            <a:endParaRPr lang="en-US"/>
          </a:p>
        </p:txBody>
      </p:sp>
    </p:spTree>
    <p:extLst>
      <p:ext uri="{BB962C8B-B14F-4D97-AF65-F5344CB8AC3E}">
        <p14:creationId xmlns:p14="http://schemas.microsoft.com/office/powerpoint/2010/main" val="3262680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E3487-E102-4118-81D3-D3B39CF3232E}" type="slidenum">
              <a:rPr lang="en-US" smtClean="0"/>
              <a:t>9</a:t>
            </a:fld>
            <a:endParaRPr lang="en-US"/>
          </a:p>
        </p:txBody>
      </p:sp>
    </p:spTree>
    <p:extLst>
      <p:ext uri="{BB962C8B-B14F-4D97-AF65-F5344CB8AC3E}">
        <p14:creationId xmlns:p14="http://schemas.microsoft.com/office/powerpoint/2010/main" val="940863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E3487-E102-4118-81D3-D3B39CF3232E}" type="slidenum">
              <a:rPr lang="en-US" smtClean="0"/>
              <a:t>15</a:t>
            </a:fld>
            <a:endParaRPr lang="en-US"/>
          </a:p>
        </p:txBody>
      </p:sp>
    </p:spTree>
    <p:extLst>
      <p:ext uri="{BB962C8B-B14F-4D97-AF65-F5344CB8AC3E}">
        <p14:creationId xmlns:p14="http://schemas.microsoft.com/office/powerpoint/2010/main" val="1378440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54299-4578-39B3-7585-A291B85FD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1CCD2-C26B-DC41-E877-43FDD7CC3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02868-4FCE-A2EB-2629-490B6919F825}"/>
              </a:ext>
            </a:extLst>
          </p:cNvPr>
          <p:cNvSpPr>
            <a:spLocks noGrp="1"/>
          </p:cNvSpPr>
          <p:nvPr>
            <p:ph type="body" idx="1"/>
          </p:nvPr>
        </p:nvSpPr>
        <p:spPr/>
        <p:txBody>
          <a:bodyPr/>
          <a:lstStyle/>
          <a:p>
            <a:pPr marL="0" indent="0">
              <a:buNone/>
            </a:pPr>
            <a:r>
              <a:rPr lang="en-US" dirty="0"/>
              <a:t>Goal: Present outcomes from your project.</a:t>
            </a:r>
          </a:p>
          <a:p>
            <a:pPr marL="0" indent="0">
              <a:buNone/>
            </a:pPr>
            <a:r>
              <a:rPr lang="en-US" dirty="0"/>
              <a:t> • Present key findings (use graphs, charts, or tables if needed).</a:t>
            </a:r>
          </a:p>
          <a:p>
            <a:pPr marL="0" indent="0">
              <a:buNone/>
            </a:pPr>
            <a:r>
              <a:rPr lang="en-US" dirty="0"/>
              <a:t> • Interpret the results: What do they mean? Do they support your hypothesis?</a:t>
            </a:r>
          </a:p>
          <a:p>
            <a:pPr marL="0" indent="0">
              <a:buNone/>
            </a:pPr>
            <a:r>
              <a:rPr lang="en-US" dirty="0"/>
              <a:t> • Discuss whether any unexpected or surprising outcomes occurred.</a:t>
            </a:r>
          </a:p>
          <a:p>
            <a:endParaRPr lang="en-US" dirty="0"/>
          </a:p>
        </p:txBody>
      </p:sp>
      <p:sp>
        <p:nvSpPr>
          <p:cNvPr id="4" name="Slide Number Placeholder 3">
            <a:extLst>
              <a:ext uri="{FF2B5EF4-FFF2-40B4-BE49-F238E27FC236}">
                <a16:creationId xmlns:a16="http://schemas.microsoft.com/office/drawing/2014/main" id="{5E851ADC-1D93-2643-A170-7FED0BABA10E}"/>
              </a:ext>
            </a:extLst>
          </p:cNvPr>
          <p:cNvSpPr>
            <a:spLocks noGrp="1"/>
          </p:cNvSpPr>
          <p:nvPr>
            <p:ph type="sldNum" sz="quarter" idx="5"/>
          </p:nvPr>
        </p:nvSpPr>
        <p:spPr/>
        <p:txBody>
          <a:bodyPr/>
          <a:lstStyle/>
          <a:p>
            <a:fld id="{61EE3487-E102-4118-81D3-D3B39CF3232E}" type="slidenum">
              <a:rPr lang="en-US" smtClean="0"/>
              <a:t>16</a:t>
            </a:fld>
            <a:endParaRPr lang="en-US"/>
          </a:p>
        </p:txBody>
      </p:sp>
    </p:spTree>
    <p:extLst>
      <p:ext uri="{BB962C8B-B14F-4D97-AF65-F5344CB8AC3E}">
        <p14:creationId xmlns:p14="http://schemas.microsoft.com/office/powerpoint/2010/main" val="1009144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A1C4-E5E6-1FF5-BE8B-FC6212916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9888C-57BF-C054-5EC7-8E94955BD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82047-457E-8593-4B91-6B6CD14F24A6}"/>
              </a:ext>
            </a:extLst>
          </p:cNvPr>
          <p:cNvSpPr>
            <a:spLocks noGrp="1"/>
          </p:cNvSpPr>
          <p:nvPr>
            <p:ph type="body" idx="1"/>
          </p:nvPr>
        </p:nvSpPr>
        <p:spPr/>
        <p:txBody>
          <a:bodyPr/>
          <a:lstStyle/>
          <a:p>
            <a:pPr marL="0" indent="0">
              <a:buNone/>
            </a:pPr>
            <a:r>
              <a:rPr lang="en-US" dirty="0"/>
              <a:t>Goal: Discuss any roadblocks or risks encountered.</a:t>
            </a:r>
          </a:p>
          <a:p>
            <a:pPr marL="0" indent="0">
              <a:buNone/>
            </a:pPr>
            <a:r>
              <a:rPr lang="en-US" dirty="0"/>
              <a:t> • Technical, logistical, or other challenges faced.</a:t>
            </a:r>
          </a:p>
          <a:p>
            <a:pPr marL="0" indent="0">
              <a:buNone/>
            </a:pPr>
            <a:r>
              <a:rPr lang="en-US" dirty="0"/>
              <a:t> • How these challenges were addressed.</a:t>
            </a:r>
          </a:p>
          <a:p>
            <a:endParaRPr lang="en-US" dirty="0"/>
          </a:p>
        </p:txBody>
      </p:sp>
      <p:sp>
        <p:nvSpPr>
          <p:cNvPr id="4" name="Slide Number Placeholder 3">
            <a:extLst>
              <a:ext uri="{FF2B5EF4-FFF2-40B4-BE49-F238E27FC236}">
                <a16:creationId xmlns:a16="http://schemas.microsoft.com/office/drawing/2014/main" id="{06A5A0F0-75D2-C801-AB89-D7F5A3132050}"/>
              </a:ext>
            </a:extLst>
          </p:cNvPr>
          <p:cNvSpPr>
            <a:spLocks noGrp="1"/>
          </p:cNvSpPr>
          <p:nvPr>
            <p:ph type="sldNum" sz="quarter" idx="5"/>
          </p:nvPr>
        </p:nvSpPr>
        <p:spPr/>
        <p:txBody>
          <a:bodyPr/>
          <a:lstStyle/>
          <a:p>
            <a:fld id="{61EE3487-E102-4118-81D3-D3B39CF3232E}" type="slidenum">
              <a:rPr lang="en-US" smtClean="0"/>
              <a:t>17</a:t>
            </a:fld>
            <a:endParaRPr lang="en-US"/>
          </a:p>
        </p:txBody>
      </p:sp>
    </p:spTree>
    <p:extLst>
      <p:ext uri="{BB962C8B-B14F-4D97-AF65-F5344CB8AC3E}">
        <p14:creationId xmlns:p14="http://schemas.microsoft.com/office/powerpoint/2010/main" val="1193386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2532-D9E4-5C3E-7E6E-0D717282D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E827B-2F60-46BF-1F82-301D0088B4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D98C6-A491-92B4-BE6A-597FF56AB3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553881-EC6C-6F66-A957-085EE5DC74F3}"/>
              </a:ext>
            </a:extLst>
          </p:cNvPr>
          <p:cNvSpPr>
            <a:spLocks noGrp="1"/>
          </p:cNvSpPr>
          <p:nvPr>
            <p:ph type="sldNum" sz="quarter" idx="5"/>
          </p:nvPr>
        </p:nvSpPr>
        <p:spPr/>
        <p:txBody>
          <a:bodyPr/>
          <a:lstStyle/>
          <a:p>
            <a:fld id="{61EE3487-E102-4118-81D3-D3B39CF3232E}" type="slidenum">
              <a:rPr lang="en-US" smtClean="0"/>
              <a:t>18</a:t>
            </a:fld>
            <a:endParaRPr lang="en-US"/>
          </a:p>
        </p:txBody>
      </p:sp>
    </p:spTree>
    <p:extLst>
      <p:ext uri="{BB962C8B-B14F-4D97-AF65-F5344CB8AC3E}">
        <p14:creationId xmlns:p14="http://schemas.microsoft.com/office/powerpoint/2010/main" val="1113778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F9BBE-459A-FF35-4BB0-147845913D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81038D-3F29-9D12-A4EE-B855BEA904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66A551-CD95-2CA8-EF62-38C636695A88}"/>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5" name="Footer Placeholder 4">
            <a:extLst>
              <a:ext uri="{FF2B5EF4-FFF2-40B4-BE49-F238E27FC236}">
                <a16:creationId xmlns:a16="http://schemas.microsoft.com/office/drawing/2014/main" id="{45B82CCD-5B81-7B2E-8F31-5BF4E3E7C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98767C-0B6D-F4EE-B32E-78E75BADB90A}"/>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2501788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FD5AD-DA7A-A238-F577-1BE1A6C6C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B5F7AE-49CE-7EE9-DF47-F635D54052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9377ED-DCC5-EF09-B7A3-E7BF51F7C08F}"/>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5" name="Footer Placeholder 4">
            <a:extLst>
              <a:ext uri="{FF2B5EF4-FFF2-40B4-BE49-F238E27FC236}">
                <a16:creationId xmlns:a16="http://schemas.microsoft.com/office/drawing/2014/main" id="{290B0DA6-725A-F0C3-12BF-7FE3E71D6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9C12A-5F83-025A-DA5F-FCA31DCD5BDF}"/>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1377253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FDE82-C0E6-5C3F-C9C6-9F03EADF53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C5BEEE-5428-4409-F6F6-F55C0D74A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5E98F-80AB-D385-494F-E811FFB364DD}"/>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5" name="Footer Placeholder 4">
            <a:extLst>
              <a:ext uri="{FF2B5EF4-FFF2-40B4-BE49-F238E27FC236}">
                <a16:creationId xmlns:a16="http://schemas.microsoft.com/office/drawing/2014/main" id="{156BB992-81F0-E567-7AA9-51347C2CE6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57C7CD-3AE8-7546-5F3E-F43D9A7E09CA}"/>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1012226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F6D82-C08E-E75A-CD83-D891BCAC37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4A8B78-3CBB-46C6-17A0-A7689F7F23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B9D752-C1C0-4ADD-FADA-727B92BF76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DDDA71-489F-C440-EC97-E14D475DC610}"/>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6" name="Footer Placeholder 5">
            <a:extLst>
              <a:ext uri="{FF2B5EF4-FFF2-40B4-BE49-F238E27FC236}">
                <a16:creationId xmlns:a16="http://schemas.microsoft.com/office/drawing/2014/main" id="{8460FE8D-60E7-309B-4BE2-4B8FD14F4D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CAFD2-FE99-74FD-C8C2-F1032FEB28ED}"/>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1600765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C635B-9F8C-4318-9DDF-79EB33072E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C6EDA0-96BD-30C4-F3B2-0B2CFAD755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904FB7-D5F0-B6FB-A246-3E13830148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6BE370-0C8E-A411-2FFA-D8E0FFA01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7F2BA4-B3B1-3628-EE3A-81EB2472C9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22DF69-679A-2FFF-4550-553AAD64D433}"/>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8" name="Footer Placeholder 7">
            <a:extLst>
              <a:ext uri="{FF2B5EF4-FFF2-40B4-BE49-F238E27FC236}">
                <a16:creationId xmlns:a16="http://schemas.microsoft.com/office/drawing/2014/main" id="{8612DD4E-A4FB-B61D-877C-076CB2D522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4BCEE7-9EEA-784F-F5B7-5A01A3350718}"/>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307341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89351-7461-55C9-FD02-2420C6B935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534729-60C3-40A7-8735-B57CA15F1F8D}"/>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4" name="Footer Placeholder 3">
            <a:extLst>
              <a:ext uri="{FF2B5EF4-FFF2-40B4-BE49-F238E27FC236}">
                <a16:creationId xmlns:a16="http://schemas.microsoft.com/office/drawing/2014/main" id="{A4280927-CBA1-D9DF-357A-1CE74B04FC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69397F-C687-B7BD-9663-52042C72D0FD}"/>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2371333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8C643E-B45B-D873-0CA7-2589C97EEDFE}"/>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3" name="Footer Placeholder 2">
            <a:extLst>
              <a:ext uri="{FF2B5EF4-FFF2-40B4-BE49-F238E27FC236}">
                <a16:creationId xmlns:a16="http://schemas.microsoft.com/office/drawing/2014/main" id="{3E7B5341-C18D-5F26-CF3F-6F16841BB7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04DE98-E496-CF55-F1AE-1B9533F4380A}"/>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302842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D71E1-47FE-744B-AAC6-DBCE15DED5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C2859D-6D52-EAAE-885C-6019F09D95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10FCD0-C074-3C50-CD52-545F39CA7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979CEB-8DDB-FA07-8033-6FC03232A122}"/>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6" name="Footer Placeholder 5">
            <a:extLst>
              <a:ext uri="{FF2B5EF4-FFF2-40B4-BE49-F238E27FC236}">
                <a16:creationId xmlns:a16="http://schemas.microsoft.com/office/drawing/2014/main" id="{E14611FD-8487-3925-3CEE-09C2A9F6C4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62EA4-F0A2-F6B1-5F1F-8D296B51A552}"/>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894371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1D553-9BB0-B78D-060A-13B14B09DC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FE5955-56B1-FC04-C3B5-288160149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60D2C7-929B-B187-CDBC-DF9A7762BE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4D93D8-038F-8961-118C-EF6CF1598683}"/>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6" name="Footer Placeholder 5">
            <a:extLst>
              <a:ext uri="{FF2B5EF4-FFF2-40B4-BE49-F238E27FC236}">
                <a16:creationId xmlns:a16="http://schemas.microsoft.com/office/drawing/2014/main" id="{D03D5A3A-A149-77BE-E0B3-B34481616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3294EB-1DBC-2998-07F1-1DA0F6354BF7}"/>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312000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FF2B7-F096-3611-53F5-EE3431D2C5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110B56-E859-1E29-2CBB-F774A394D5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03DE03-32E7-79ED-BF6A-73E82543D6ED}"/>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5" name="Footer Placeholder 4">
            <a:extLst>
              <a:ext uri="{FF2B5EF4-FFF2-40B4-BE49-F238E27FC236}">
                <a16:creationId xmlns:a16="http://schemas.microsoft.com/office/drawing/2014/main" id="{F158EA2B-3683-340F-4A11-47E47FBA99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FC600-77B7-ECAB-91A6-6848EE07F333}"/>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818478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771449-011E-60FF-14C4-77345F646C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783407-1EF4-7803-424A-91EE14E6E3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84ABC-1D26-DA90-417E-397EF2CDCF56}"/>
              </a:ext>
            </a:extLst>
          </p:cNvPr>
          <p:cNvSpPr>
            <a:spLocks noGrp="1"/>
          </p:cNvSpPr>
          <p:nvPr>
            <p:ph type="dt" sz="half" idx="10"/>
          </p:nvPr>
        </p:nvSpPr>
        <p:spPr/>
        <p:txBody>
          <a:bodyPr/>
          <a:lstStyle/>
          <a:p>
            <a:fld id="{7CED1410-E6AF-46F1-9B78-51BBADA35500}" type="datetimeFigureOut">
              <a:rPr lang="en-US" smtClean="0"/>
              <a:t>7/21/2025</a:t>
            </a:fld>
            <a:endParaRPr lang="en-US"/>
          </a:p>
        </p:txBody>
      </p:sp>
      <p:sp>
        <p:nvSpPr>
          <p:cNvPr id="5" name="Footer Placeholder 4">
            <a:extLst>
              <a:ext uri="{FF2B5EF4-FFF2-40B4-BE49-F238E27FC236}">
                <a16:creationId xmlns:a16="http://schemas.microsoft.com/office/drawing/2014/main" id="{F59E467D-C887-D5CD-1E2C-C15F6895CB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C5CA32-1C9A-C7F2-08D7-01B1AB769131}"/>
              </a:ext>
            </a:extLst>
          </p:cNvPr>
          <p:cNvSpPr>
            <a:spLocks noGrp="1"/>
          </p:cNvSpPr>
          <p:nvPr>
            <p:ph type="sldNum" sz="quarter" idx="12"/>
          </p:nvPr>
        </p:nvSpPr>
        <p:spPr/>
        <p:txBody>
          <a:bodyPr/>
          <a:lstStyle/>
          <a:p>
            <a:fld id="{4D91A9C4-31EC-4C8C-ABB2-26EFF837F844}" type="slidenum">
              <a:rPr lang="en-US" smtClean="0"/>
              <a:t>‹#›</a:t>
            </a:fld>
            <a:endParaRPr lang="en-US"/>
          </a:p>
        </p:txBody>
      </p:sp>
    </p:spTree>
    <p:extLst>
      <p:ext uri="{BB962C8B-B14F-4D97-AF65-F5344CB8AC3E}">
        <p14:creationId xmlns:p14="http://schemas.microsoft.com/office/powerpoint/2010/main" val="2268036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9BA427-67AF-EE96-3B0C-5B09E95B56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247D63-718D-2AEB-E68E-65542EAB08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71A163-6B7E-F9B5-6CE1-28131F15FF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ED1410-E6AF-46F1-9B78-51BBADA35500}" type="datetimeFigureOut">
              <a:rPr lang="en-US" smtClean="0"/>
              <a:t>7/21/2025</a:t>
            </a:fld>
            <a:endParaRPr lang="en-US"/>
          </a:p>
        </p:txBody>
      </p:sp>
      <p:sp>
        <p:nvSpPr>
          <p:cNvPr id="5" name="Footer Placeholder 4">
            <a:extLst>
              <a:ext uri="{FF2B5EF4-FFF2-40B4-BE49-F238E27FC236}">
                <a16:creationId xmlns:a16="http://schemas.microsoft.com/office/drawing/2014/main" id="{C29EC105-2E79-E33E-EC82-D34C9C398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F8D023-FEE9-BCF7-66A6-78FB628A4D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91A9C4-31EC-4C8C-ABB2-26EFF837F844}" type="slidenum">
              <a:rPr lang="en-US" smtClean="0"/>
              <a:t>‹#›</a:t>
            </a:fld>
            <a:endParaRPr lang="en-US"/>
          </a:p>
        </p:txBody>
      </p:sp>
    </p:spTree>
    <p:extLst>
      <p:ext uri="{BB962C8B-B14F-4D97-AF65-F5344CB8AC3E}">
        <p14:creationId xmlns:p14="http://schemas.microsoft.com/office/powerpoint/2010/main" val="4193796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8.mp4"/><Relationship Id="rId1" Type="http://schemas.microsoft.com/office/2007/relationships/media" Target="../media/media8.mp4"/><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video" Target="../media/media9.mp4"/><Relationship Id="rId1" Type="http://schemas.microsoft.com/office/2007/relationships/media" Target="../media/media9.mp4"/><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AC644B-4C26-0F7C-0084-DED4CDFB763A}"/>
              </a:ext>
            </a:extLst>
          </p:cNvPr>
          <p:cNvPicPr>
            <a:picLocks noChangeAspect="1"/>
          </p:cNvPicPr>
          <p:nvPr/>
        </p:nvPicPr>
        <p:blipFill>
          <a:blip r:embed="rId3"/>
          <a:stretch>
            <a:fillRect/>
          </a:stretch>
        </p:blipFill>
        <p:spPr>
          <a:xfrm>
            <a:off x="0" y="0"/>
            <a:ext cx="12192000" cy="3752850"/>
          </a:xfrm>
          <a:prstGeom prst="rect">
            <a:avLst/>
          </a:prstGeom>
        </p:spPr>
      </p:pic>
      <p:sp>
        <p:nvSpPr>
          <p:cNvPr id="2" name="Title 1">
            <a:extLst>
              <a:ext uri="{FF2B5EF4-FFF2-40B4-BE49-F238E27FC236}">
                <a16:creationId xmlns:a16="http://schemas.microsoft.com/office/drawing/2014/main" id="{C6F7DA28-D10A-0E40-90A9-9B45ED538F38}"/>
              </a:ext>
            </a:extLst>
          </p:cNvPr>
          <p:cNvSpPr>
            <a:spLocks noGrp="1"/>
          </p:cNvSpPr>
          <p:nvPr>
            <p:ph type="ctrTitle"/>
          </p:nvPr>
        </p:nvSpPr>
        <p:spPr>
          <a:xfrm>
            <a:off x="519330" y="217714"/>
            <a:ext cx="11153335" cy="3211286"/>
          </a:xfrm>
        </p:spPr>
        <p:txBody>
          <a:bodyPr>
            <a:normAutofit fontScale="90000"/>
          </a:bodyPr>
          <a:lstStyle/>
          <a:p>
            <a:r>
              <a:rPr lang="en-US" dirty="0">
                <a:solidFill>
                  <a:schemeClr val="bg1"/>
                </a:solidFill>
              </a:rPr>
              <a:t>Coevolving Neural Networks</a:t>
            </a:r>
            <a:br>
              <a:rPr lang="en-US" dirty="0">
                <a:solidFill>
                  <a:schemeClr val="bg1"/>
                </a:solidFill>
              </a:rPr>
            </a:br>
            <a:r>
              <a:rPr lang="en-US" sz="3100" dirty="0">
                <a:solidFill>
                  <a:schemeClr val="bg1"/>
                </a:solidFill>
              </a:rPr>
              <a:t>and</a:t>
            </a:r>
            <a:br>
              <a:rPr lang="en-US" dirty="0">
                <a:solidFill>
                  <a:schemeClr val="bg1"/>
                </a:solidFill>
              </a:rPr>
            </a:br>
            <a:r>
              <a:rPr lang="en-US" dirty="0">
                <a:solidFill>
                  <a:schemeClr val="bg1"/>
                </a:solidFill>
              </a:rPr>
              <a:t>Body Morphologies</a:t>
            </a:r>
            <a:br>
              <a:rPr lang="en-US" dirty="0">
                <a:solidFill>
                  <a:schemeClr val="bg1"/>
                </a:solidFill>
              </a:rPr>
            </a:br>
            <a:r>
              <a:rPr lang="en-US" sz="3100" dirty="0">
                <a:solidFill>
                  <a:schemeClr val="bg1"/>
                </a:solidFill>
              </a:rPr>
              <a:t>for</a:t>
            </a:r>
            <a:br>
              <a:rPr lang="en-US" dirty="0">
                <a:solidFill>
                  <a:schemeClr val="bg1"/>
                </a:solidFill>
              </a:rPr>
            </a:br>
            <a:r>
              <a:rPr lang="en-US" dirty="0">
                <a:solidFill>
                  <a:schemeClr val="bg1"/>
                </a:solidFill>
              </a:rPr>
              <a:t>Soft Robotics using </a:t>
            </a:r>
            <a:r>
              <a:rPr lang="en-US" dirty="0" err="1">
                <a:solidFill>
                  <a:schemeClr val="bg1"/>
                </a:solidFill>
              </a:rPr>
              <a:t>EvolutionGym</a:t>
            </a:r>
            <a:endParaRPr lang="en-US" dirty="0">
              <a:solidFill>
                <a:schemeClr val="bg1"/>
              </a:solidFill>
            </a:endParaRPr>
          </a:p>
        </p:txBody>
      </p:sp>
      <p:pic>
        <p:nvPicPr>
          <p:cNvPr id="4" name="Picture 3">
            <a:extLst>
              <a:ext uri="{FF2B5EF4-FFF2-40B4-BE49-F238E27FC236}">
                <a16:creationId xmlns:a16="http://schemas.microsoft.com/office/drawing/2014/main" id="{9CEBED58-1BB6-D843-8FF9-1F156A8454B0}"/>
              </a:ext>
            </a:extLst>
          </p:cNvPr>
          <p:cNvPicPr>
            <a:picLocks noChangeAspect="1"/>
          </p:cNvPicPr>
          <p:nvPr/>
        </p:nvPicPr>
        <p:blipFill>
          <a:blip r:embed="rId4"/>
          <a:stretch>
            <a:fillRect/>
          </a:stretch>
        </p:blipFill>
        <p:spPr>
          <a:xfrm>
            <a:off x="10058400" y="5192082"/>
            <a:ext cx="2034100" cy="1121494"/>
          </a:xfrm>
          <a:prstGeom prst="rect">
            <a:avLst/>
          </a:prstGeom>
        </p:spPr>
      </p:pic>
      <p:sp>
        <p:nvSpPr>
          <p:cNvPr id="5" name="Subtitle 2">
            <a:extLst>
              <a:ext uri="{FF2B5EF4-FFF2-40B4-BE49-F238E27FC236}">
                <a16:creationId xmlns:a16="http://schemas.microsoft.com/office/drawing/2014/main" id="{3BC44AF6-839E-2F2C-0342-8A3D38202F25}"/>
              </a:ext>
            </a:extLst>
          </p:cNvPr>
          <p:cNvSpPr txBox="1">
            <a:spLocks/>
          </p:cNvSpPr>
          <p:nvPr/>
        </p:nvSpPr>
        <p:spPr>
          <a:xfrm>
            <a:off x="4332846" y="5957715"/>
            <a:ext cx="3526302" cy="5463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Matthew Del Branson</a:t>
            </a:r>
          </a:p>
        </p:txBody>
      </p:sp>
      <p:pic>
        <p:nvPicPr>
          <p:cNvPr id="7" name="Picture 6">
            <a:extLst>
              <a:ext uri="{FF2B5EF4-FFF2-40B4-BE49-F238E27FC236}">
                <a16:creationId xmlns:a16="http://schemas.microsoft.com/office/drawing/2014/main" id="{A8B16228-85B6-CF5C-1CCA-265DDA18D470}"/>
              </a:ext>
            </a:extLst>
          </p:cNvPr>
          <p:cNvPicPr>
            <a:picLocks noChangeAspect="1"/>
          </p:cNvPicPr>
          <p:nvPr/>
        </p:nvPicPr>
        <p:blipFill>
          <a:blip r:embed="rId5"/>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A7AE3373-FCB5-80D4-5616-AB03AFD0A712}"/>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Tree>
    <p:extLst>
      <p:ext uri="{BB962C8B-B14F-4D97-AF65-F5344CB8AC3E}">
        <p14:creationId xmlns:p14="http://schemas.microsoft.com/office/powerpoint/2010/main" val="2414720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4167F-35A4-7CAF-2ECA-49DA653D3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7B4F9-A993-8C06-040F-8EE70297A6E3}"/>
              </a:ext>
            </a:extLst>
          </p:cNvPr>
          <p:cNvSpPr>
            <a:spLocks noGrp="1"/>
          </p:cNvSpPr>
          <p:nvPr>
            <p:ph type="title"/>
          </p:nvPr>
        </p:nvSpPr>
        <p:spPr/>
        <p:txBody>
          <a:bodyPr/>
          <a:lstStyle/>
          <a:p>
            <a:r>
              <a:rPr lang="en-US" dirty="0"/>
              <a:t>Introduction</a:t>
            </a:r>
          </a:p>
        </p:txBody>
      </p:sp>
      <p:pic>
        <p:nvPicPr>
          <p:cNvPr id="4" name="Picture 3">
            <a:extLst>
              <a:ext uri="{FF2B5EF4-FFF2-40B4-BE49-F238E27FC236}">
                <a16:creationId xmlns:a16="http://schemas.microsoft.com/office/drawing/2014/main" id="{4CCEBAED-AC81-0489-AF75-A24C255E9713}"/>
              </a:ext>
            </a:extLst>
          </p:cNvPr>
          <p:cNvPicPr>
            <a:picLocks noChangeAspect="1"/>
          </p:cNvPicPr>
          <p:nvPr/>
        </p:nvPicPr>
        <p:blipFill>
          <a:blip r:embed="rId3"/>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28ED4A7A-199B-A056-FCB2-198A819E597E}"/>
              </a:ext>
            </a:extLst>
          </p:cNvPr>
          <p:cNvPicPr>
            <a:picLocks noChangeAspect="1"/>
          </p:cNvPicPr>
          <p:nvPr/>
        </p:nvPicPr>
        <p:blipFill>
          <a:blip r:embed="rId4"/>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DA1D92D9-82E3-ED2B-500F-915DF80480DB}"/>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9" name="TextBox 8">
            <a:extLst>
              <a:ext uri="{FF2B5EF4-FFF2-40B4-BE49-F238E27FC236}">
                <a16:creationId xmlns:a16="http://schemas.microsoft.com/office/drawing/2014/main" id="{4E8E0FBB-6AF4-3FCA-36D1-F516A2063A84}"/>
              </a:ext>
            </a:extLst>
          </p:cNvPr>
          <p:cNvSpPr txBox="1"/>
          <p:nvPr/>
        </p:nvSpPr>
        <p:spPr>
          <a:xfrm>
            <a:off x="11859064" y="6504087"/>
            <a:ext cx="221665" cy="307778"/>
          </a:xfrm>
          <a:prstGeom prst="rect">
            <a:avLst/>
          </a:prstGeom>
          <a:noFill/>
        </p:spPr>
        <p:txBody>
          <a:bodyPr wrap="square">
            <a:spAutoFit/>
          </a:bodyPr>
          <a:lstStyle/>
          <a:p>
            <a:r>
              <a:rPr lang="en-US" sz="1400" dirty="0">
                <a:solidFill>
                  <a:schemeClr val="bg1"/>
                </a:solidFill>
              </a:rPr>
              <a:t>1</a:t>
            </a:r>
          </a:p>
        </p:txBody>
      </p:sp>
      <p:sp>
        <p:nvSpPr>
          <p:cNvPr id="7" name="Content Placeholder 6">
            <a:extLst>
              <a:ext uri="{FF2B5EF4-FFF2-40B4-BE49-F238E27FC236}">
                <a16:creationId xmlns:a16="http://schemas.microsoft.com/office/drawing/2014/main" id="{285ED8F6-9062-6FCD-5412-97C566D43A9F}"/>
              </a:ext>
            </a:extLst>
          </p:cNvPr>
          <p:cNvSpPr>
            <a:spLocks noGrp="1"/>
          </p:cNvSpPr>
          <p:nvPr>
            <p:ph idx="1"/>
          </p:nvPr>
        </p:nvSpPr>
        <p:spPr>
          <a:xfrm>
            <a:off x="517072" y="1736824"/>
            <a:ext cx="5471886" cy="4009782"/>
          </a:xfrm>
        </p:spPr>
        <p:txBody>
          <a:bodyPr>
            <a:normAutofit/>
          </a:bodyPr>
          <a:lstStyle/>
          <a:p>
            <a:pPr algn="ctr">
              <a:buNone/>
            </a:pPr>
            <a:r>
              <a:rPr lang="en-US" b="1" dirty="0" err="1"/>
              <a:t>Neuroevolution</a:t>
            </a:r>
            <a:r>
              <a:rPr lang="en-US" b="1" dirty="0"/>
              <a:t> -</a:t>
            </a:r>
          </a:p>
          <a:p>
            <a:pPr algn="ctr">
              <a:buNone/>
            </a:pPr>
            <a:r>
              <a:rPr lang="en-US" b="1" dirty="0"/>
              <a:t>Evolving Neural Networks</a:t>
            </a:r>
            <a:endParaRPr lang="en-US" dirty="0"/>
          </a:p>
          <a:p>
            <a:pPr>
              <a:buFont typeface="Arial" panose="020B0604020202020204" pitchFamily="34" charset="0"/>
              <a:buChar char="•"/>
            </a:pPr>
            <a:r>
              <a:rPr lang="en-US" dirty="0"/>
              <a:t>Apply evolutionary algorithms to optimize neural network controllers</a:t>
            </a:r>
          </a:p>
          <a:p>
            <a:pPr>
              <a:buFont typeface="Arial" panose="020B0604020202020204" pitchFamily="34" charset="0"/>
              <a:buChar char="•"/>
            </a:pPr>
            <a:r>
              <a:rPr lang="en-US" dirty="0"/>
              <a:t>Population-based search through weight and topology space</a:t>
            </a:r>
          </a:p>
          <a:p>
            <a:pPr marL="0" indent="0">
              <a:buNone/>
            </a:pPr>
            <a:endParaRPr lang="en-US" dirty="0"/>
          </a:p>
        </p:txBody>
      </p:sp>
      <p:sp>
        <p:nvSpPr>
          <p:cNvPr id="18" name="TextBox 17">
            <a:extLst>
              <a:ext uri="{FF2B5EF4-FFF2-40B4-BE49-F238E27FC236}">
                <a16:creationId xmlns:a16="http://schemas.microsoft.com/office/drawing/2014/main" id="{E4557B87-6D71-4C9C-2597-005BEDF38E45}"/>
              </a:ext>
            </a:extLst>
          </p:cNvPr>
          <p:cNvSpPr txBox="1"/>
          <p:nvPr/>
        </p:nvSpPr>
        <p:spPr>
          <a:xfrm>
            <a:off x="6197600" y="1690687"/>
            <a:ext cx="5772295" cy="4055919"/>
          </a:xfrm>
          <a:prstGeom prst="rect">
            <a:avLst/>
          </a:prstGeom>
          <a:noFill/>
        </p:spPr>
        <p:txBody>
          <a:bodyPr wrap="square">
            <a:spAutoFit/>
          </a:bodyPr>
          <a:lstStyle/>
          <a:p>
            <a:pPr algn="ctr"/>
            <a:r>
              <a:rPr lang="en-US" sz="2800" b="1" dirty="0"/>
              <a:t>NEAT (</a:t>
            </a:r>
            <a:r>
              <a:rPr lang="en-US" sz="2800" b="1" dirty="0" err="1"/>
              <a:t>Neuroevolution</a:t>
            </a:r>
            <a:r>
              <a:rPr lang="en-US" sz="2800" b="1" dirty="0"/>
              <a:t> of Augmenting Topologies) </a:t>
            </a:r>
          </a:p>
          <a:p>
            <a:pPr marL="228600" indent="-228600">
              <a:lnSpc>
                <a:spcPct val="90000"/>
              </a:lnSpc>
              <a:spcBef>
                <a:spcPts val="1000"/>
              </a:spcBef>
              <a:buFont typeface="Arial" panose="020B0604020202020204" pitchFamily="34" charset="0"/>
              <a:buChar char="•"/>
            </a:pPr>
            <a:r>
              <a:rPr lang="en-US" sz="2800" dirty="0"/>
              <a:t>Complexification: Gradually increase network complexity</a:t>
            </a:r>
          </a:p>
          <a:p>
            <a:pPr marL="228600" indent="-228600">
              <a:lnSpc>
                <a:spcPct val="90000"/>
              </a:lnSpc>
              <a:spcBef>
                <a:spcPts val="1000"/>
              </a:spcBef>
              <a:buFont typeface="Arial" panose="020B0604020202020204" pitchFamily="34" charset="0"/>
              <a:buChar char="•"/>
            </a:pPr>
            <a:r>
              <a:rPr lang="en-US" sz="2800" dirty="0"/>
              <a:t>Historical markings enable crossover between different topologies</a:t>
            </a:r>
          </a:p>
          <a:p>
            <a:pPr marL="228600" indent="-228600">
              <a:lnSpc>
                <a:spcPct val="90000"/>
              </a:lnSpc>
              <a:spcBef>
                <a:spcPts val="1000"/>
              </a:spcBef>
              <a:buFont typeface="Arial" panose="020B0604020202020204" pitchFamily="34" charset="0"/>
              <a:buChar char="•"/>
            </a:pPr>
            <a:r>
              <a:rPr lang="en-US" sz="2800" dirty="0"/>
              <a:t>Speciation protects innovative solutions</a:t>
            </a:r>
          </a:p>
        </p:txBody>
      </p:sp>
      <p:cxnSp>
        <p:nvCxnSpPr>
          <p:cNvPr id="20" name="Straight Connector 19">
            <a:extLst>
              <a:ext uri="{FF2B5EF4-FFF2-40B4-BE49-F238E27FC236}">
                <a16:creationId xmlns:a16="http://schemas.microsoft.com/office/drawing/2014/main" id="{342ED064-260C-C029-CFF4-67D7DD08801C}"/>
              </a:ext>
            </a:extLst>
          </p:cNvPr>
          <p:cNvCxnSpPr>
            <a:cxnSpLocks/>
          </p:cNvCxnSpPr>
          <p:nvPr/>
        </p:nvCxnSpPr>
        <p:spPr>
          <a:xfrm flipV="1">
            <a:off x="6096000" y="1690687"/>
            <a:ext cx="0" cy="405591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4332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28735-21AE-86BE-44B9-C68D8EC32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648DE-220A-75C0-05E5-21C2A8E5B109}"/>
              </a:ext>
            </a:extLst>
          </p:cNvPr>
          <p:cNvSpPr>
            <a:spLocks noGrp="1"/>
          </p:cNvSpPr>
          <p:nvPr>
            <p:ph type="title"/>
          </p:nvPr>
        </p:nvSpPr>
        <p:spPr/>
        <p:txBody>
          <a:bodyPr/>
          <a:lstStyle/>
          <a:p>
            <a:r>
              <a:rPr lang="en-US" dirty="0"/>
              <a:t>Introduction</a:t>
            </a:r>
          </a:p>
        </p:txBody>
      </p:sp>
      <p:pic>
        <p:nvPicPr>
          <p:cNvPr id="4" name="Picture 3">
            <a:extLst>
              <a:ext uri="{FF2B5EF4-FFF2-40B4-BE49-F238E27FC236}">
                <a16:creationId xmlns:a16="http://schemas.microsoft.com/office/drawing/2014/main" id="{A8D8F94C-6E79-EBE0-0280-516343CAD85E}"/>
              </a:ext>
            </a:extLst>
          </p:cNvPr>
          <p:cNvPicPr>
            <a:picLocks noChangeAspect="1"/>
          </p:cNvPicPr>
          <p:nvPr/>
        </p:nvPicPr>
        <p:blipFill>
          <a:blip r:embed="rId3"/>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6F9ACA21-D84D-147B-9692-D03B63DF9B4B}"/>
              </a:ext>
            </a:extLst>
          </p:cNvPr>
          <p:cNvPicPr>
            <a:picLocks noChangeAspect="1"/>
          </p:cNvPicPr>
          <p:nvPr/>
        </p:nvPicPr>
        <p:blipFill>
          <a:blip r:embed="rId4"/>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595CDD13-6C92-161A-2E1C-550328612D03}"/>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9" name="TextBox 8">
            <a:extLst>
              <a:ext uri="{FF2B5EF4-FFF2-40B4-BE49-F238E27FC236}">
                <a16:creationId xmlns:a16="http://schemas.microsoft.com/office/drawing/2014/main" id="{469D1C03-0456-4A14-119A-C1BC9D1C88FD}"/>
              </a:ext>
            </a:extLst>
          </p:cNvPr>
          <p:cNvSpPr txBox="1"/>
          <p:nvPr/>
        </p:nvSpPr>
        <p:spPr>
          <a:xfrm>
            <a:off x="11859064" y="6504087"/>
            <a:ext cx="221665" cy="307778"/>
          </a:xfrm>
          <a:prstGeom prst="rect">
            <a:avLst/>
          </a:prstGeom>
          <a:noFill/>
        </p:spPr>
        <p:txBody>
          <a:bodyPr wrap="square">
            <a:spAutoFit/>
          </a:bodyPr>
          <a:lstStyle/>
          <a:p>
            <a:r>
              <a:rPr lang="en-US" sz="1400" dirty="0">
                <a:solidFill>
                  <a:schemeClr val="bg1"/>
                </a:solidFill>
              </a:rPr>
              <a:t>2</a:t>
            </a:r>
          </a:p>
        </p:txBody>
      </p:sp>
      <p:sp>
        <p:nvSpPr>
          <p:cNvPr id="5" name="Content Placeholder 6">
            <a:extLst>
              <a:ext uri="{FF2B5EF4-FFF2-40B4-BE49-F238E27FC236}">
                <a16:creationId xmlns:a16="http://schemas.microsoft.com/office/drawing/2014/main" id="{8C565D0D-BF28-6BEB-59DD-C3710558EE17}"/>
              </a:ext>
            </a:extLst>
          </p:cNvPr>
          <p:cNvSpPr txBox="1">
            <a:spLocks/>
          </p:cNvSpPr>
          <p:nvPr/>
        </p:nvSpPr>
        <p:spPr>
          <a:xfrm>
            <a:off x="838200" y="1746069"/>
            <a:ext cx="10515600" cy="42591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dirty="0"/>
              <a:t>Co-evolution: Evolving Multiple Interacting Components</a:t>
            </a:r>
            <a:endParaRPr lang="en-US" dirty="0"/>
          </a:p>
          <a:p>
            <a:pPr>
              <a:buFont typeface="Arial" panose="020B0604020202020204" pitchFamily="34" charset="0"/>
              <a:buChar char="•"/>
            </a:pPr>
            <a:r>
              <a:rPr lang="en-US" dirty="0"/>
              <a:t>In nature: Bodies and brains evolved together</a:t>
            </a:r>
          </a:p>
          <a:p>
            <a:pPr>
              <a:buFont typeface="Arial" panose="020B0604020202020204" pitchFamily="34" charset="0"/>
              <a:buChar char="•"/>
            </a:pPr>
            <a:r>
              <a:rPr lang="en-US" dirty="0"/>
              <a:t>Fitness emerges from interaction, not isolation</a:t>
            </a:r>
          </a:p>
          <a:p>
            <a:pPr>
              <a:buFont typeface="Arial" panose="020B0604020202020204" pitchFamily="34" charset="0"/>
              <a:buChar char="•"/>
            </a:pPr>
            <a:r>
              <a:rPr lang="en-US" b="1" dirty="0"/>
              <a:t>Types of co-evolution</a:t>
            </a:r>
            <a:r>
              <a:rPr lang="en-US" dirty="0"/>
              <a:t>: </a:t>
            </a:r>
          </a:p>
          <a:p>
            <a:pPr marL="742950" lvl="1" indent="-285750">
              <a:buFont typeface="Arial" panose="020B0604020202020204" pitchFamily="34" charset="0"/>
              <a:buChar char="•"/>
            </a:pPr>
            <a:r>
              <a:rPr lang="en-US" dirty="0"/>
              <a:t>Competitive: Predator-prey, game-playing strategies</a:t>
            </a:r>
          </a:p>
          <a:p>
            <a:pPr marL="742950" lvl="1" indent="-285750">
              <a:buFont typeface="Arial" panose="020B0604020202020204" pitchFamily="34" charset="0"/>
              <a:buChar char="•"/>
            </a:pPr>
            <a:r>
              <a:rPr lang="en-US" dirty="0"/>
              <a:t>Cooperative: Team members, body-brain systems</a:t>
            </a:r>
          </a:p>
          <a:p>
            <a:pPr>
              <a:buFont typeface="Arial" panose="020B0604020202020204" pitchFamily="34" charset="0"/>
              <a:buChar char="•"/>
            </a:pPr>
            <a:r>
              <a:rPr lang="en-US" b="1" dirty="0"/>
              <a:t>1-population cooperative co-evolution</a:t>
            </a:r>
            <a:endParaRPr lang="en-US" dirty="0"/>
          </a:p>
        </p:txBody>
      </p:sp>
    </p:spTree>
    <p:extLst>
      <p:ext uri="{BB962C8B-B14F-4D97-AF65-F5344CB8AC3E}">
        <p14:creationId xmlns:p14="http://schemas.microsoft.com/office/powerpoint/2010/main" val="1246848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1A71A-D3F9-F01A-61B3-D5149A086209}"/>
              </a:ext>
            </a:extLst>
          </p:cNvPr>
          <p:cNvSpPr>
            <a:spLocks noGrp="1"/>
          </p:cNvSpPr>
          <p:nvPr>
            <p:ph type="title"/>
          </p:nvPr>
        </p:nvSpPr>
        <p:spPr/>
        <p:txBody>
          <a:bodyPr/>
          <a:lstStyle/>
          <a:p>
            <a:r>
              <a:rPr lang="en-US" dirty="0"/>
              <a:t>Introduction</a:t>
            </a:r>
          </a:p>
        </p:txBody>
      </p:sp>
      <p:pic>
        <p:nvPicPr>
          <p:cNvPr id="4" name="Picture 3">
            <a:extLst>
              <a:ext uri="{FF2B5EF4-FFF2-40B4-BE49-F238E27FC236}">
                <a16:creationId xmlns:a16="http://schemas.microsoft.com/office/drawing/2014/main" id="{1E080AFB-27D1-E906-F796-A9DC550EC0CC}"/>
              </a:ext>
            </a:extLst>
          </p:cNvPr>
          <p:cNvPicPr>
            <a:picLocks noChangeAspect="1"/>
          </p:cNvPicPr>
          <p:nvPr/>
        </p:nvPicPr>
        <p:blipFill>
          <a:blip r:embed="rId3"/>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EB4D653D-9F26-749A-CA83-6BCEC8A75796}"/>
              </a:ext>
            </a:extLst>
          </p:cNvPr>
          <p:cNvPicPr>
            <a:picLocks noChangeAspect="1"/>
          </p:cNvPicPr>
          <p:nvPr/>
        </p:nvPicPr>
        <p:blipFill>
          <a:blip r:embed="rId4"/>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B7158517-F9DC-F3F4-9786-BBE69DE54FCC}"/>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9" name="TextBox 8">
            <a:extLst>
              <a:ext uri="{FF2B5EF4-FFF2-40B4-BE49-F238E27FC236}">
                <a16:creationId xmlns:a16="http://schemas.microsoft.com/office/drawing/2014/main" id="{323DCEAB-4F08-1749-8EF6-78DEBB55F4EA}"/>
              </a:ext>
            </a:extLst>
          </p:cNvPr>
          <p:cNvSpPr txBox="1"/>
          <p:nvPr/>
        </p:nvSpPr>
        <p:spPr>
          <a:xfrm>
            <a:off x="11859064" y="6504087"/>
            <a:ext cx="221665" cy="307778"/>
          </a:xfrm>
          <a:prstGeom prst="rect">
            <a:avLst/>
          </a:prstGeom>
          <a:noFill/>
        </p:spPr>
        <p:txBody>
          <a:bodyPr wrap="square">
            <a:spAutoFit/>
          </a:bodyPr>
          <a:lstStyle/>
          <a:p>
            <a:r>
              <a:rPr lang="en-US" sz="1400" dirty="0">
                <a:solidFill>
                  <a:schemeClr val="bg1"/>
                </a:solidFill>
              </a:rPr>
              <a:t>3</a:t>
            </a:r>
          </a:p>
        </p:txBody>
      </p:sp>
      <p:sp>
        <p:nvSpPr>
          <p:cNvPr id="7" name="Content Placeholder 6">
            <a:extLst>
              <a:ext uri="{FF2B5EF4-FFF2-40B4-BE49-F238E27FC236}">
                <a16:creationId xmlns:a16="http://schemas.microsoft.com/office/drawing/2014/main" id="{0A3FC0C7-D0F4-75F7-58E9-BEC2D84BDC92}"/>
              </a:ext>
            </a:extLst>
          </p:cNvPr>
          <p:cNvSpPr>
            <a:spLocks noGrp="1"/>
          </p:cNvSpPr>
          <p:nvPr>
            <p:ph idx="1"/>
          </p:nvPr>
        </p:nvSpPr>
        <p:spPr>
          <a:xfrm>
            <a:off x="838200" y="1736824"/>
            <a:ext cx="10515600" cy="1875518"/>
          </a:xfrm>
        </p:spPr>
        <p:txBody>
          <a:bodyPr/>
          <a:lstStyle/>
          <a:p>
            <a:pPr marL="0" indent="0">
              <a:buNone/>
            </a:pPr>
            <a:r>
              <a:rPr lang="en-US" b="1" dirty="0"/>
              <a:t>Original Objective:</a:t>
            </a:r>
          </a:p>
          <a:p>
            <a:r>
              <a:rPr lang="en-US" dirty="0"/>
              <a:t> Test multiple NEAT implementations with a degradation framework that could simulate malfunction or disrepair, observing how well each network can adapt to a failing body.</a:t>
            </a:r>
          </a:p>
        </p:txBody>
      </p:sp>
      <p:sp>
        <p:nvSpPr>
          <p:cNvPr id="3" name="Content Placeholder 6">
            <a:extLst>
              <a:ext uri="{FF2B5EF4-FFF2-40B4-BE49-F238E27FC236}">
                <a16:creationId xmlns:a16="http://schemas.microsoft.com/office/drawing/2014/main" id="{151DF152-C149-7F2C-1F29-107CB019594D}"/>
              </a:ext>
            </a:extLst>
          </p:cNvPr>
          <p:cNvSpPr txBox="1">
            <a:spLocks/>
          </p:cNvSpPr>
          <p:nvPr/>
        </p:nvSpPr>
        <p:spPr>
          <a:xfrm>
            <a:off x="838200" y="3658478"/>
            <a:ext cx="10515600" cy="21691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Revised Scope:</a:t>
            </a:r>
          </a:p>
          <a:p>
            <a:r>
              <a:rPr lang="en-US" dirty="0"/>
              <a:t>Getting even one NEAT implementation working well can be fraught with challenges, and once you start performing speciation, you need larger populations to really see the benefit, resulting in longer, more computationally expensive test runs.</a:t>
            </a:r>
          </a:p>
        </p:txBody>
      </p:sp>
    </p:spTree>
    <p:extLst>
      <p:ext uri="{BB962C8B-B14F-4D97-AF65-F5344CB8AC3E}">
        <p14:creationId xmlns:p14="http://schemas.microsoft.com/office/powerpoint/2010/main" val="1977052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11665-51B6-D333-EA2A-F00F51879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216BB-DD6D-221F-A58A-EB3DF3D9E633}"/>
              </a:ext>
            </a:extLst>
          </p:cNvPr>
          <p:cNvSpPr>
            <a:spLocks noGrp="1"/>
          </p:cNvSpPr>
          <p:nvPr>
            <p:ph type="title"/>
          </p:nvPr>
        </p:nvSpPr>
        <p:spPr/>
        <p:txBody>
          <a:bodyPr/>
          <a:lstStyle/>
          <a:p>
            <a:r>
              <a:rPr lang="en-US" dirty="0"/>
              <a:t>Research Questions</a:t>
            </a:r>
          </a:p>
        </p:txBody>
      </p:sp>
      <p:pic>
        <p:nvPicPr>
          <p:cNvPr id="4" name="Picture 3">
            <a:extLst>
              <a:ext uri="{FF2B5EF4-FFF2-40B4-BE49-F238E27FC236}">
                <a16:creationId xmlns:a16="http://schemas.microsoft.com/office/drawing/2014/main" id="{05A88CAB-7961-AE8F-3CD6-14EC950EC3B8}"/>
              </a:ext>
            </a:extLst>
          </p:cNvPr>
          <p:cNvPicPr>
            <a:picLocks noChangeAspect="1"/>
          </p:cNvPicPr>
          <p:nvPr/>
        </p:nvPicPr>
        <p:blipFill>
          <a:blip r:embed="rId3"/>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D0FEA471-6396-2578-A9DB-5D3E39BE0CC8}"/>
              </a:ext>
            </a:extLst>
          </p:cNvPr>
          <p:cNvPicPr>
            <a:picLocks noChangeAspect="1"/>
          </p:cNvPicPr>
          <p:nvPr/>
        </p:nvPicPr>
        <p:blipFill>
          <a:blip r:embed="rId4"/>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4CA0FE7F-4222-D0D3-06DA-0AFF95239ACC}"/>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9" name="TextBox 8">
            <a:extLst>
              <a:ext uri="{FF2B5EF4-FFF2-40B4-BE49-F238E27FC236}">
                <a16:creationId xmlns:a16="http://schemas.microsoft.com/office/drawing/2014/main" id="{92111164-6EA7-B0B5-C98C-1F883ADB4D7A}"/>
              </a:ext>
            </a:extLst>
          </p:cNvPr>
          <p:cNvSpPr txBox="1"/>
          <p:nvPr/>
        </p:nvSpPr>
        <p:spPr>
          <a:xfrm>
            <a:off x="11859064" y="6504087"/>
            <a:ext cx="221665" cy="307778"/>
          </a:xfrm>
          <a:prstGeom prst="rect">
            <a:avLst/>
          </a:prstGeom>
          <a:noFill/>
        </p:spPr>
        <p:txBody>
          <a:bodyPr wrap="square">
            <a:spAutoFit/>
          </a:bodyPr>
          <a:lstStyle/>
          <a:p>
            <a:r>
              <a:rPr lang="en-US" sz="1400" dirty="0">
                <a:solidFill>
                  <a:schemeClr val="bg1"/>
                </a:solidFill>
              </a:rPr>
              <a:t>4</a:t>
            </a:r>
          </a:p>
        </p:txBody>
      </p:sp>
      <p:sp>
        <p:nvSpPr>
          <p:cNvPr id="7" name="Content Placeholder 6">
            <a:extLst>
              <a:ext uri="{FF2B5EF4-FFF2-40B4-BE49-F238E27FC236}">
                <a16:creationId xmlns:a16="http://schemas.microsoft.com/office/drawing/2014/main" id="{8A60E821-C2BE-30FF-C02A-3E5052458928}"/>
              </a:ext>
            </a:extLst>
          </p:cNvPr>
          <p:cNvSpPr>
            <a:spLocks noGrp="1"/>
          </p:cNvSpPr>
          <p:nvPr>
            <p:ph idx="1"/>
          </p:nvPr>
        </p:nvSpPr>
        <p:spPr/>
        <p:txBody>
          <a:bodyPr/>
          <a:lstStyle/>
          <a:p>
            <a:r>
              <a:rPr lang="en-US" dirty="0"/>
              <a:t>Can NEAT effectively co-evolve neural controllers alongside changing morphologies?</a:t>
            </a:r>
          </a:p>
          <a:p>
            <a:r>
              <a:rPr lang="en-US" dirty="0"/>
              <a:t>How does speciation protect innovative body-brain combinations during evolution?</a:t>
            </a:r>
          </a:p>
          <a:p>
            <a:r>
              <a:rPr lang="en-US" dirty="0"/>
              <a:t>What implementation challenges arise when adapting NEAT to soft robotics?</a:t>
            </a:r>
          </a:p>
          <a:p>
            <a:pPr marL="0" indent="0">
              <a:buNone/>
            </a:pPr>
            <a:endParaRPr lang="en-US" dirty="0"/>
          </a:p>
        </p:txBody>
      </p:sp>
    </p:spTree>
    <p:extLst>
      <p:ext uri="{BB962C8B-B14F-4D97-AF65-F5344CB8AC3E}">
        <p14:creationId xmlns:p14="http://schemas.microsoft.com/office/powerpoint/2010/main" val="771383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331D8-A69B-77E5-7387-5845416DF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1234D-E33C-F714-357D-B5E80B5604B6}"/>
              </a:ext>
            </a:extLst>
          </p:cNvPr>
          <p:cNvSpPr>
            <a:spLocks noGrp="1"/>
          </p:cNvSpPr>
          <p:nvPr>
            <p:ph type="title"/>
          </p:nvPr>
        </p:nvSpPr>
        <p:spPr/>
        <p:txBody>
          <a:bodyPr/>
          <a:lstStyle/>
          <a:p>
            <a:r>
              <a:rPr lang="en-US" dirty="0"/>
              <a:t>Methodology</a:t>
            </a:r>
          </a:p>
        </p:txBody>
      </p:sp>
      <p:pic>
        <p:nvPicPr>
          <p:cNvPr id="4" name="Picture 3">
            <a:extLst>
              <a:ext uri="{FF2B5EF4-FFF2-40B4-BE49-F238E27FC236}">
                <a16:creationId xmlns:a16="http://schemas.microsoft.com/office/drawing/2014/main" id="{57E63CB9-04DF-D778-6A61-247013F5D71E}"/>
              </a:ext>
            </a:extLst>
          </p:cNvPr>
          <p:cNvPicPr>
            <a:picLocks noChangeAspect="1"/>
          </p:cNvPicPr>
          <p:nvPr/>
        </p:nvPicPr>
        <p:blipFill>
          <a:blip r:embed="rId3"/>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0BCA5E3C-8E84-7CBB-061C-E39CAE0C0D45}"/>
              </a:ext>
            </a:extLst>
          </p:cNvPr>
          <p:cNvPicPr>
            <a:picLocks noChangeAspect="1"/>
          </p:cNvPicPr>
          <p:nvPr/>
        </p:nvPicPr>
        <p:blipFill>
          <a:blip r:embed="rId4"/>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B464F9E0-E2D1-A409-A87F-C9BEC59D4367}"/>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9" name="TextBox 8">
            <a:extLst>
              <a:ext uri="{FF2B5EF4-FFF2-40B4-BE49-F238E27FC236}">
                <a16:creationId xmlns:a16="http://schemas.microsoft.com/office/drawing/2014/main" id="{EF816C5E-87E8-F394-8D9A-4C58E937B690}"/>
              </a:ext>
            </a:extLst>
          </p:cNvPr>
          <p:cNvSpPr txBox="1"/>
          <p:nvPr/>
        </p:nvSpPr>
        <p:spPr>
          <a:xfrm>
            <a:off x="11859064" y="6504087"/>
            <a:ext cx="221665" cy="307777"/>
          </a:xfrm>
          <a:prstGeom prst="rect">
            <a:avLst/>
          </a:prstGeom>
          <a:noFill/>
        </p:spPr>
        <p:txBody>
          <a:bodyPr wrap="square">
            <a:spAutoFit/>
          </a:bodyPr>
          <a:lstStyle/>
          <a:p>
            <a:r>
              <a:rPr lang="en-US" sz="1400" dirty="0">
                <a:solidFill>
                  <a:schemeClr val="bg1"/>
                </a:solidFill>
              </a:rPr>
              <a:t>5</a:t>
            </a:r>
          </a:p>
        </p:txBody>
      </p:sp>
      <p:sp>
        <p:nvSpPr>
          <p:cNvPr id="7" name="Content Placeholder 6">
            <a:extLst>
              <a:ext uri="{FF2B5EF4-FFF2-40B4-BE49-F238E27FC236}">
                <a16:creationId xmlns:a16="http://schemas.microsoft.com/office/drawing/2014/main" id="{C1B822FB-6DD6-D433-5963-C98E79C4D660}"/>
              </a:ext>
            </a:extLst>
          </p:cNvPr>
          <p:cNvSpPr>
            <a:spLocks noGrp="1"/>
          </p:cNvSpPr>
          <p:nvPr>
            <p:ph idx="1"/>
          </p:nvPr>
        </p:nvSpPr>
        <p:spPr/>
        <p:txBody>
          <a:bodyPr/>
          <a:lstStyle/>
          <a:p>
            <a:pPr marL="0" indent="0">
              <a:buNone/>
            </a:pPr>
            <a:r>
              <a:rPr lang="en-US" b="1" dirty="0" err="1"/>
              <a:t>EvolutionGym</a:t>
            </a:r>
            <a:endParaRPr lang="en-US" b="1" dirty="0"/>
          </a:p>
          <a:p>
            <a:r>
              <a:rPr lang="en-US" dirty="0"/>
              <a:t>Soft body physics simulation (voxel-based)</a:t>
            </a:r>
          </a:p>
          <a:p>
            <a:r>
              <a:rPr lang="en-US" dirty="0"/>
              <a:t>4 voxel types: Rigid, Soft, Vertical muscle, Horizontal muscle</a:t>
            </a:r>
          </a:p>
          <a:p>
            <a:r>
              <a:rPr lang="en-US" dirty="0"/>
              <a:t>Why soft robotics: More robust, adaptive, closer to biological systems</a:t>
            </a:r>
          </a:p>
          <a:p>
            <a:r>
              <a:rPr lang="en-US" dirty="0"/>
              <a:t>Observation space: Position and velocity for each voxel</a:t>
            </a:r>
          </a:p>
          <a:p>
            <a:r>
              <a:rPr lang="en-US" dirty="0"/>
              <a:t>Action space: Actuation values for muscle voxels</a:t>
            </a:r>
          </a:p>
        </p:txBody>
      </p:sp>
    </p:spTree>
    <p:extLst>
      <p:ext uri="{BB962C8B-B14F-4D97-AF65-F5344CB8AC3E}">
        <p14:creationId xmlns:p14="http://schemas.microsoft.com/office/powerpoint/2010/main" val="2912741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0f+003.68_random">
            <a:hlinkClick r:id="" action="ppaction://media"/>
            <a:extLst>
              <a:ext uri="{FF2B5EF4-FFF2-40B4-BE49-F238E27FC236}">
                <a16:creationId xmlns:a16="http://schemas.microsoft.com/office/drawing/2014/main" id="{1C42FE6C-267B-9D79-4AA2-52D1A343B3E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06477" y="-109368"/>
            <a:ext cx="12398477" cy="6567318"/>
          </a:xfrm>
          <a:prstGeom prst="rect">
            <a:avLst/>
          </a:prstGeom>
        </p:spPr>
      </p:pic>
      <p:sp>
        <p:nvSpPr>
          <p:cNvPr id="4" name="Title 1">
            <a:extLst>
              <a:ext uri="{FF2B5EF4-FFF2-40B4-BE49-F238E27FC236}">
                <a16:creationId xmlns:a16="http://schemas.microsoft.com/office/drawing/2014/main" id="{C1A5B783-9B1B-F233-BB8D-26EF7D920458}"/>
              </a:ext>
            </a:extLst>
          </p:cNvPr>
          <p:cNvSpPr>
            <a:spLocks noGrp="1"/>
          </p:cNvSpPr>
          <p:nvPr>
            <p:ph type="title"/>
          </p:nvPr>
        </p:nvSpPr>
        <p:spPr>
          <a:xfrm>
            <a:off x="838200" y="365125"/>
            <a:ext cx="10515600" cy="1325563"/>
          </a:xfrm>
        </p:spPr>
        <p:txBody>
          <a:bodyPr/>
          <a:lstStyle/>
          <a:p>
            <a:r>
              <a:rPr lang="en-US" dirty="0"/>
              <a:t>Random Control (f=3.68)</a:t>
            </a:r>
          </a:p>
        </p:txBody>
      </p:sp>
      <p:pic>
        <p:nvPicPr>
          <p:cNvPr id="5" name="Picture 4">
            <a:extLst>
              <a:ext uri="{FF2B5EF4-FFF2-40B4-BE49-F238E27FC236}">
                <a16:creationId xmlns:a16="http://schemas.microsoft.com/office/drawing/2014/main" id="{DB4C139F-80F8-5F60-2BEB-DA2214C2012D}"/>
              </a:ext>
            </a:extLst>
          </p:cNvPr>
          <p:cNvPicPr>
            <a:picLocks noChangeAspect="1"/>
          </p:cNvPicPr>
          <p:nvPr/>
        </p:nvPicPr>
        <p:blipFill>
          <a:blip r:embed="rId6"/>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855BD582-B1AD-DEB3-4546-55EF90D36FB8}"/>
              </a:ext>
            </a:extLst>
          </p:cNvPr>
          <p:cNvPicPr>
            <a:picLocks noChangeAspect="1"/>
          </p:cNvPicPr>
          <p:nvPr/>
        </p:nvPicPr>
        <p:blipFill>
          <a:blip r:embed="rId7"/>
          <a:stretch>
            <a:fillRect/>
          </a:stretch>
        </p:blipFill>
        <p:spPr>
          <a:xfrm>
            <a:off x="0" y="6457950"/>
            <a:ext cx="12192000" cy="400050"/>
          </a:xfrm>
          <a:prstGeom prst="rect">
            <a:avLst/>
          </a:prstGeom>
        </p:spPr>
      </p:pic>
      <p:sp>
        <p:nvSpPr>
          <p:cNvPr id="7" name="TextBox 6">
            <a:extLst>
              <a:ext uri="{FF2B5EF4-FFF2-40B4-BE49-F238E27FC236}">
                <a16:creationId xmlns:a16="http://schemas.microsoft.com/office/drawing/2014/main" id="{EE614057-B732-9DAD-1762-1C9BA1B4C7E0}"/>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8" name="TextBox 7">
            <a:extLst>
              <a:ext uri="{FF2B5EF4-FFF2-40B4-BE49-F238E27FC236}">
                <a16:creationId xmlns:a16="http://schemas.microsoft.com/office/drawing/2014/main" id="{ABC6EC80-E191-AC4F-20A2-4A4A0F150551}"/>
              </a:ext>
            </a:extLst>
          </p:cNvPr>
          <p:cNvSpPr txBox="1"/>
          <p:nvPr/>
        </p:nvSpPr>
        <p:spPr>
          <a:xfrm>
            <a:off x="11859064" y="6504087"/>
            <a:ext cx="221665" cy="307778"/>
          </a:xfrm>
          <a:prstGeom prst="rect">
            <a:avLst/>
          </a:prstGeom>
          <a:noFill/>
        </p:spPr>
        <p:txBody>
          <a:bodyPr wrap="square">
            <a:spAutoFit/>
          </a:bodyPr>
          <a:lstStyle/>
          <a:p>
            <a:r>
              <a:rPr lang="en-US" sz="1400" dirty="0">
                <a:solidFill>
                  <a:schemeClr val="bg1"/>
                </a:solidFill>
              </a:rPr>
              <a:t>6</a:t>
            </a:r>
          </a:p>
        </p:txBody>
      </p:sp>
    </p:spTree>
    <p:extLst>
      <p:ext uri="{BB962C8B-B14F-4D97-AF65-F5344CB8AC3E}">
        <p14:creationId xmlns:p14="http://schemas.microsoft.com/office/powerpoint/2010/main" val="211999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1f+003.05_neat_1_mutation_only">
            <a:hlinkClick r:id="" action="ppaction://media"/>
            <a:extLst>
              <a:ext uri="{FF2B5EF4-FFF2-40B4-BE49-F238E27FC236}">
                <a16:creationId xmlns:a16="http://schemas.microsoft.com/office/drawing/2014/main" id="{07267AA8-164D-61CB-6305-CEFC5827B25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6477" y="-1"/>
            <a:ext cx="12398477" cy="6411814"/>
          </a:xfrm>
          <a:prstGeom prst="rect">
            <a:avLst/>
          </a:prstGeom>
        </p:spPr>
      </p:pic>
      <p:sp>
        <p:nvSpPr>
          <p:cNvPr id="4" name="Title 1">
            <a:extLst>
              <a:ext uri="{FF2B5EF4-FFF2-40B4-BE49-F238E27FC236}">
                <a16:creationId xmlns:a16="http://schemas.microsoft.com/office/drawing/2014/main" id="{D721A205-5EF9-80CE-CC89-5FEAB8B4CA4C}"/>
              </a:ext>
            </a:extLst>
          </p:cNvPr>
          <p:cNvSpPr>
            <a:spLocks noGrp="1"/>
          </p:cNvSpPr>
          <p:nvPr>
            <p:ph type="title"/>
          </p:nvPr>
        </p:nvSpPr>
        <p:spPr>
          <a:xfrm>
            <a:off x="838200" y="365125"/>
            <a:ext cx="10515600" cy="1325563"/>
          </a:xfrm>
        </p:spPr>
        <p:txBody>
          <a:bodyPr/>
          <a:lstStyle/>
          <a:p>
            <a:r>
              <a:rPr lang="en-US" dirty="0"/>
              <a:t>Neural Network – Mutation (f=3.05)</a:t>
            </a:r>
          </a:p>
        </p:txBody>
      </p:sp>
      <p:pic>
        <p:nvPicPr>
          <p:cNvPr id="5" name="Picture 4">
            <a:extLst>
              <a:ext uri="{FF2B5EF4-FFF2-40B4-BE49-F238E27FC236}">
                <a16:creationId xmlns:a16="http://schemas.microsoft.com/office/drawing/2014/main" id="{A34967FF-08EE-F5B0-B3D8-3005F310C6A4}"/>
              </a:ext>
            </a:extLst>
          </p:cNvPr>
          <p:cNvPicPr>
            <a:picLocks noChangeAspect="1"/>
          </p:cNvPicPr>
          <p:nvPr/>
        </p:nvPicPr>
        <p:blipFill>
          <a:blip r:embed="rId5"/>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CB1E200A-6CEA-088E-4093-271551FC6F59}"/>
              </a:ext>
            </a:extLst>
          </p:cNvPr>
          <p:cNvPicPr>
            <a:picLocks noChangeAspect="1"/>
          </p:cNvPicPr>
          <p:nvPr/>
        </p:nvPicPr>
        <p:blipFill>
          <a:blip r:embed="rId6"/>
          <a:stretch>
            <a:fillRect/>
          </a:stretch>
        </p:blipFill>
        <p:spPr>
          <a:xfrm>
            <a:off x="0" y="6457950"/>
            <a:ext cx="12192000" cy="400050"/>
          </a:xfrm>
          <a:prstGeom prst="rect">
            <a:avLst/>
          </a:prstGeom>
        </p:spPr>
      </p:pic>
      <p:sp>
        <p:nvSpPr>
          <p:cNvPr id="7" name="TextBox 6">
            <a:extLst>
              <a:ext uri="{FF2B5EF4-FFF2-40B4-BE49-F238E27FC236}">
                <a16:creationId xmlns:a16="http://schemas.microsoft.com/office/drawing/2014/main" id="{53CD3DF6-0B63-EE37-7BFB-1988EFAAC8CD}"/>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8" name="TextBox 7">
            <a:extLst>
              <a:ext uri="{FF2B5EF4-FFF2-40B4-BE49-F238E27FC236}">
                <a16:creationId xmlns:a16="http://schemas.microsoft.com/office/drawing/2014/main" id="{1AF01BE2-151C-BAB0-8470-24DAC7B1E067}"/>
              </a:ext>
            </a:extLst>
          </p:cNvPr>
          <p:cNvSpPr txBox="1"/>
          <p:nvPr/>
        </p:nvSpPr>
        <p:spPr>
          <a:xfrm>
            <a:off x="11859064" y="6504087"/>
            <a:ext cx="221665" cy="307778"/>
          </a:xfrm>
          <a:prstGeom prst="rect">
            <a:avLst/>
          </a:prstGeom>
          <a:noFill/>
        </p:spPr>
        <p:txBody>
          <a:bodyPr wrap="square">
            <a:spAutoFit/>
          </a:bodyPr>
          <a:lstStyle/>
          <a:p>
            <a:r>
              <a:rPr lang="en-US" sz="1400" dirty="0">
                <a:solidFill>
                  <a:schemeClr val="bg1"/>
                </a:solidFill>
              </a:rPr>
              <a:t>7</a:t>
            </a:r>
          </a:p>
        </p:txBody>
      </p:sp>
    </p:spTree>
    <p:extLst>
      <p:ext uri="{BB962C8B-B14F-4D97-AF65-F5344CB8AC3E}">
        <p14:creationId xmlns:p14="http://schemas.microsoft.com/office/powerpoint/2010/main" val="39478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67"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2f+003.26_neat_2_mutation_and_crossover">
            <a:hlinkClick r:id="" action="ppaction://media"/>
            <a:extLst>
              <a:ext uri="{FF2B5EF4-FFF2-40B4-BE49-F238E27FC236}">
                <a16:creationId xmlns:a16="http://schemas.microsoft.com/office/drawing/2014/main" id="{E6772EFB-B2D5-896F-F4CE-7410BD0EEF6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457949"/>
          </a:xfrm>
          <a:prstGeom prst="rect">
            <a:avLst/>
          </a:prstGeom>
        </p:spPr>
      </p:pic>
      <p:sp>
        <p:nvSpPr>
          <p:cNvPr id="4" name="Title 1">
            <a:extLst>
              <a:ext uri="{FF2B5EF4-FFF2-40B4-BE49-F238E27FC236}">
                <a16:creationId xmlns:a16="http://schemas.microsoft.com/office/drawing/2014/main" id="{7C54F80B-D3AB-E8C4-34DC-994C07D679A1}"/>
              </a:ext>
            </a:extLst>
          </p:cNvPr>
          <p:cNvSpPr>
            <a:spLocks noGrp="1"/>
          </p:cNvSpPr>
          <p:nvPr>
            <p:ph type="title"/>
          </p:nvPr>
        </p:nvSpPr>
        <p:spPr>
          <a:xfrm>
            <a:off x="838200" y="365125"/>
            <a:ext cx="10515600" cy="1325563"/>
          </a:xfrm>
        </p:spPr>
        <p:txBody>
          <a:bodyPr/>
          <a:lstStyle/>
          <a:p>
            <a:r>
              <a:rPr lang="en-US" dirty="0"/>
              <a:t>Neural Network – Crossover (f=3.26)</a:t>
            </a:r>
          </a:p>
        </p:txBody>
      </p:sp>
      <p:pic>
        <p:nvPicPr>
          <p:cNvPr id="5" name="Picture 4">
            <a:extLst>
              <a:ext uri="{FF2B5EF4-FFF2-40B4-BE49-F238E27FC236}">
                <a16:creationId xmlns:a16="http://schemas.microsoft.com/office/drawing/2014/main" id="{1FAB4053-EEF7-877B-FB26-375466129135}"/>
              </a:ext>
            </a:extLst>
          </p:cNvPr>
          <p:cNvPicPr>
            <a:picLocks noChangeAspect="1"/>
          </p:cNvPicPr>
          <p:nvPr/>
        </p:nvPicPr>
        <p:blipFill>
          <a:blip r:embed="rId6"/>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8EC785C7-90A7-549B-32AC-1DF5E2856A23}"/>
              </a:ext>
            </a:extLst>
          </p:cNvPr>
          <p:cNvPicPr>
            <a:picLocks noChangeAspect="1"/>
          </p:cNvPicPr>
          <p:nvPr/>
        </p:nvPicPr>
        <p:blipFill>
          <a:blip r:embed="rId7"/>
          <a:stretch>
            <a:fillRect/>
          </a:stretch>
        </p:blipFill>
        <p:spPr>
          <a:xfrm>
            <a:off x="0" y="6457950"/>
            <a:ext cx="12192000" cy="400050"/>
          </a:xfrm>
          <a:prstGeom prst="rect">
            <a:avLst/>
          </a:prstGeom>
        </p:spPr>
      </p:pic>
      <p:sp>
        <p:nvSpPr>
          <p:cNvPr id="7" name="TextBox 6">
            <a:extLst>
              <a:ext uri="{FF2B5EF4-FFF2-40B4-BE49-F238E27FC236}">
                <a16:creationId xmlns:a16="http://schemas.microsoft.com/office/drawing/2014/main" id="{CE03B98E-06A2-7A9B-C072-3B0399003990}"/>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8" name="TextBox 7">
            <a:extLst>
              <a:ext uri="{FF2B5EF4-FFF2-40B4-BE49-F238E27FC236}">
                <a16:creationId xmlns:a16="http://schemas.microsoft.com/office/drawing/2014/main" id="{AF12F9CF-3690-0FEE-718F-5675DC3BC872}"/>
              </a:ext>
            </a:extLst>
          </p:cNvPr>
          <p:cNvSpPr txBox="1"/>
          <p:nvPr/>
        </p:nvSpPr>
        <p:spPr>
          <a:xfrm>
            <a:off x="11859064" y="6504087"/>
            <a:ext cx="221665" cy="307778"/>
          </a:xfrm>
          <a:prstGeom prst="rect">
            <a:avLst/>
          </a:prstGeom>
          <a:noFill/>
        </p:spPr>
        <p:txBody>
          <a:bodyPr wrap="square">
            <a:spAutoFit/>
          </a:bodyPr>
          <a:lstStyle/>
          <a:p>
            <a:r>
              <a:rPr lang="en-US" sz="1400" dirty="0">
                <a:solidFill>
                  <a:schemeClr val="bg1"/>
                </a:solidFill>
              </a:rPr>
              <a:t>8</a:t>
            </a:r>
          </a:p>
        </p:txBody>
      </p:sp>
    </p:spTree>
    <p:extLst>
      <p:ext uri="{BB962C8B-B14F-4D97-AF65-F5344CB8AC3E}">
        <p14:creationId xmlns:p14="http://schemas.microsoft.com/office/powerpoint/2010/main" val="34546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67"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3f+003.57_neat_3_speciation_early_champ">
            <a:hlinkClick r:id="" action="ppaction://media"/>
            <a:extLst>
              <a:ext uri="{FF2B5EF4-FFF2-40B4-BE49-F238E27FC236}">
                <a16:creationId xmlns:a16="http://schemas.microsoft.com/office/drawing/2014/main" id="{88C80911-0AD4-8C82-8CB6-B8E299C54C1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411814"/>
          </a:xfrm>
          <a:prstGeom prst="rect">
            <a:avLst/>
          </a:prstGeom>
        </p:spPr>
      </p:pic>
      <p:sp>
        <p:nvSpPr>
          <p:cNvPr id="4" name="Title 1">
            <a:extLst>
              <a:ext uri="{FF2B5EF4-FFF2-40B4-BE49-F238E27FC236}">
                <a16:creationId xmlns:a16="http://schemas.microsoft.com/office/drawing/2014/main" id="{FC5710D7-9C15-7FD1-76F6-6DE60A687FB5}"/>
              </a:ext>
            </a:extLst>
          </p:cNvPr>
          <p:cNvSpPr>
            <a:spLocks noGrp="1"/>
          </p:cNvSpPr>
          <p:nvPr>
            <p:ph type="title"/>
          </p:nvPr>
        </p:nvSpPr>
        <p:spPr>
          <a:xfrm>
            <a:off x="838200" y="365125"/>
            <a:ext cx="10515600" cy="1325563"/>
          </a:xfrm>
        </p:spPr>
        <p:txBody>
          <a:bodyPr/>
          <a:lstStyle/>
          <a:p>
            <a:r>
              <a:rPr lang="en-US" dirty="0"/>
              <a:t>Speciation – Early Champ (f=3.57)</a:t>
            </a:r>
          </a:p>
        </p:txBody>
      </p:sp>
      <p:pic>
        <p:nvPicPr>
          <p:cNvPr id="5" name="Picture 4">
            <a:extLst>
              <a:ext uri="{FF2B5EF4-FFF2-40B4-BE49-F238E27FC236}">
                <a16:creationId xmlns:a16="http://schemas.microsoft.com/office/drawing/2014/main" id="{CCE0320C-FE4A-D18C-DA1E-B12C18AF6564}"/>
              </a:ext>
            </a:extLst>
          </p:cNvPr>
          <p:cNvPicPr>
            <a:picLocks noChangeAspect="1"/>
          </p:cNvPicPr>
          <p:nvPr/>
        </p:nvPicPr>
        <p:blipFill>
          <a:blip r:embed="rId5"/>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E94F6B58-B5E8-B7EC-6430-14677B352F4D}"/>
              </a:ext>
            </a:extLst>
          </p:cNvPr>
          <p:cNvPicPr>
            <a:picLocks noChangeAspect="1"/>
          </p:cNvPicPr>
          <p:nvPr/>
        </p:nvPicPr>
        <p:blipFill>
          <a:blip r:embed="rId6"/>
          <a:stretch>
            <a:fillRect/>
          </a:stretch>
        </p:blipFill>
        <p:spPr>
          <a:xfrm>
            <a:off x="0" y="6457950"/>
            <a:ext cx="12192000" cy="400050"/>
          </a:xfrm>
          <a:prstGeom prst="rect">
            <a:avLst/>
          </a:prstGeom>
        </p:spPr>
      </p:pic>
      <p:sp>
        <p:nvSpPr>
          <p:cNvPr id="7" name="TextBox 6">
            <a:extLst>
              <a:ext uri="{FF2B5EF4-FFF2-40B4-BE49-F238E27FC236}">
                <a16:creationId xmlns:a16="http://schemas.microsoft.com/office/drawing/2014/main" id="{547FFF74-C031-B325-345C-F098612D48E6}"/>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8" name="TextBox 7">
            <a:extLst>
              <a:ext uri="{FF2B5EF4-FFF2-40B4-BE49-F238E27FC236}">
                <a16:creationId xmlns:a16="http://schemas.microsoft.com/office/drawing/2014/main" id="{AEF02F57-BF72-3F16-CCF8-E8F4A0B48473}"/>
              </a:ext>
            </a:extLst>
          </p:cNvPr>
          <p:cNvSpPr txBox="1"/>
          <p:nvPr/>
        </p:nvSpPr>
        <p:spPr>
          <a:xfrm>
            <a:off x="11859064" y="6504087"/>
            <a:ext cx="221665" cy="307778"/>
          </a:xfrm>
          <a:prstGeom prst="rect">
            <a:avLst/>
          </a:prstGeom>
          <a:noFill/>
        </p:spPr>
        <p:txBody>
          <a:bodyPr wrap="square">
            <a:spAutoFit/>
          </a:bodyPr>
          <a:lstStyle/>
          <a:p>
            <a:r>
              <a:rPr lang="en-US" sz="1400" dirty="0">
                <a:solidFill>
                  <a:schemeClr val="bg1"/>
                </a:solidFill>
              </a:rPr>
              <a:t>9</a:t>
            </a:r>
          </a:p>
        </p:txBody>
      </p:sp>
    </p:spTree>
    <p:extLst>
      <p:ext uri="{BB962C8B-B14F-4D97-AF65-F5344CB8AC3E}">
        <p14:creationId xmlns:p14="http://schemas.microsoft.com/office/powerpoint/2010/main" val="98766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67"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4f+001.17_neat_3_speciation_protected_niche">
            <a:hlinkClick r:id="" action="ppaction://media"/>
            <a:extLst>
              <a:ext uri="{FF2B5EF4-FFF2-40B4-BE49-F238E27FC236}">
                <a16:creationId xmlns:a16="http://schemas.microsoft.com/office/drawing/2014/main" id="{EFFF0783-9D5E-1C6A-0C87-18F1E540B40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457949"/>
          </a:xfrm>
          <a:prstGeom prst="rect">
            <a:avLst/>
          </a:prstGeom>
        </p:spPr>
      </p:pic>
      <p:sp>
        <p:nvSpPr>
          <p:cNvPr id="4" name="Title 1">
            <a:extLst>
              <a:ext uri="{FF2B5EF4-FFF2-40B4-BE49-F238E27FC236}">
                <a16:creationId xmlns:a16="http://schemas.microsoft.com/office/drawing/2014/main" id="{4F25C012-D1F8-CBC4-3E82-152E1CCB13BA}"/>
              </a:ext>
            </a:extLst>
          </p:cNvPr>
          <p:cNvSpPr>
            <a:spLocks noGrp="1"/>
          </p:cNvSpPr>
          <p:nvPr>
            <p:ph type="title"/>
          </p:nvPr>
        </p:nvSpPr>
        <p:spPr>
          <a:xfrm>
            <a:off x="838200" y="365125"/>
            <a:ext cx="10515600" cy="1325563"/>
          </a:xfrm>
        </p:spPr>
        <p:txBody>
          <a:bodyPr/>
          <a:lstStyle/>
          <a:p>
            <a:r>
              <a:rPr lang="en-US" dirty="0"/>
              <a:t>Speciation – Protected Niche (f=1.17)</a:t>
            </a:r>
          </a:p>
        </p:txBody>
      </p:sp>
      <p:pic>
        <p:nvPicPr>
          <p:cNvPr id="5" name="Picture 4">
            <a:extLst>
              <a:ext uri="{FF2B5EF4-FFF2-40B4-BE49-F238E27FC236}">
                <a16:creationId xmlns:a16="http://schemas.microsoft.com/office/drawing/2014/main" id="{FFD6A7A7-3D38-F814-45A8-E284E5008167}"/>
              </a:ext>
            </a:extLst>
          </p:cNvPr>
          <p:cNvPicPr>
            <a:picLocks noChangeAspect="1"/>
          </p:cNvPicPr>
          <p:nvPr/>
        </p:nvPicPr>
        <p:blipFill>
          <a:blip r:embed="rId5"/>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B5BE3335-6538-8359-1BC2-AEC4DC5A95F3}"/>
              </a:ext>
            </a:extLst>
          </p:cNvPr>
          <p:cNvPicPr>
            <a:picLocks noChangeAspect="1"/>
          </p:cNvPicPr>
          <p:nvPr/>
        </p:nvPicPr>
        <p:blipFill>
          <a:blip r:embed="rId6"/>
          <a:stretch>
            <a:fillRect/>
          </a:stretch>
        </p:blipFill>
        <p:spPr>
          <a:xfrm>
            <a:off x="0" y="6457950"/>
            <a:ext cx="12192000" cy="400050"/>
          </a:xfrm>
          <a:prstGeom prst="rect">
            <a:avLst/>
          </a:prstGeom>
        </p:spPr>
      </p:pic>
      <p:sp>
        <p:nvSpPr>
          <p:cNvPr id="7" name="TextBox 6">
            <a:extLst>
              <a:ext uri="{FF2B5EF4-FFF2-40B4-BE49-F238E27FC236}">
                <a16:creationId xmlns:a16="http://schemas.microsoft.com/office/drawing/2014/main" id="{7628FC31-3416-47C2-F7E0-108D148EFEC9}"/>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8" name="TextBox 7">
            <a:extLst>
              <a:ext uri="{FF2B5EF4-FFF2-40B4-BE49-F238E27FC236}">
                <a16:creationId xmlns:a16="http://schemas.microsoft.com/office/drawing/2014/main" id="{51DBF594-56D5-24A0-0762-3A21B0AD4E7D}"/>
              </a:ext>
            </a:extLst>
          </p:cNvPr>
          <p:cNvSpPr txBox="1"/>
          <p:nvPr/>
        </p:nvSpPr>
        <p:spPr>
          <a:xfrm>
            <a:off x="11811000" y="6504087"/>
            <a:ext cx="381000" cy="307777"/>
          </a:xfrm>
          <a:prstGeom prst="rect">
            <a:avLst/>
          </a:prstGeom>
          <a:noFill/>
        </p:spPr>
        <p:txBody>
          <a:bodyPr wrap="square">
            <a:spAutoFit/>
          </a:bodyPr>
          <a:lstStyle/>
          <a:p>
            <a:r>
              <a:rPr lang="en-US" sz="1400" dirty="0">
                <a:solidFill>
                  <a:schemeClr val="bg1"/>
                </a:solidFill>
              </a:rPr>
              <a:t>10</a:t>
            </a:r>
          </a:p>
        </p:txBody>
      </p:sp>
    </p:spTree>
    <p:extLst>
      <p:ext uri="{BB962C8B-B14F-4D97-AF65-F5344CB8AC3E}">
        <p14:creationId xmlns:p14="http://schemas.microsoft.com/office/powerpoint/2010/main" val="163655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67"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E6654-2488-F029-B608-E96AF33BA41D}"/>
            </a:ext>
          </a:extLst>
        </p:cNvPr>
        <p:cNvGrpSpPr/>
        <p:nvPr/>
      </p:nvGrpSpPr>
      <p:grpSpPr>
        <a:xfrm>
          <a:off x="0" y="0"/>
          <a:ext cx="0" cy="0"/>
          <a:chOff x="0" y="0"/>
          <a:chExt cx="0" cy="0"/>
        </a:xfrm>
      </p:grpSpPr>
      <p:pic>
        <p:nvPicPr>
          <p:cNvPr id="2" name="5f+004.18_neat_3_speciation_winner">
            <a:hlinkClick r:id="" action="ppaction://media"/>
            <a:extLst>
              <a:ext uri="{FF2B5EF4-FFF2-40B4-BE49-F238E27FC236}">
                <a16:creationId xmlns:a16="http://schemas.microsoft.com/office/drawing/2014/main" id="{37C1EEA0-88D4-FD32-A502-9FD8563530F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1"/>
            <a:ext cx="12192000" cy="6457949"/>
          </a:xfrm>
          <a:prstGeom prst="rect">
            <a:avLst/>
          </a:prstGeom>
        </p:spPr>
      </p:pic>
      <p:sp>
        <p:nvSpPr>
          <p:cNvPr id="4" name="Title 1">
            <a:extLst>
              <a:ext uri="{FF2B5EF4-FFF2-40B4-BE49-F238E27FC236}">
                <a16:creationId xmlns:a16="http://schemas.microsoft.com/office/drawing/2014/main" id="{B5E3C604-4112-9DFD-2482-2094DA957DA6}"/>
              </a:ext>
            </a:extLst>
          </p:cNvPr>
          <p:cNvSpPr>
            <a:spLocks noGrp="1"/>
          </p:cNvSpPr>
          <p:nvPr>
            <p:ph type="title"/>
          </p:nvPr>
        </p:nvSpPr>
        <p:spPr>
          <a:xfrm>
            <a:off x="838200" y="365125"/>
            <a:ext cx="10515600" cy="1325563"/>
          </a:xfrm>
        </p:spPr>
        <p:txBody>
          <a:bodyPr/>
          <a:lstStyle/>
          <a:p>
            <a:r>
              <a:rPr lang="en-US" dirty="0"/>
              <a:t>Speciation – Niche Descendant (f=4.18)</a:t>
            </a:r>
          </a:p>
        </p:txBody>
      </p:sp>
      <p:pic>
        <p:nvPicPr>
          <p:cNvPr id="5" name="Picture 4">
            <a:extLst>
              <a:ext uri="{FF2B5EF4-FFF2-40B4-BE49-F238E27FC236}">
                <a16:creationId xmlns:a16="http://schemas.microsoft.com/office/drawing/2014/main" id="{C954ECC6-6CEE-5D42-BE41-213A39483E72}"/>
              </a:ext>
            </a:extLst>
          </p:cNvPr>
          <p:cNvPicPr>
            <a:picLocks noChangeAspect="1"/>
          </p:cNvPicPr>
          <p:nvPr/>
        </p:nvPicPr>
        <p:blipFill>
          <a:blip r:embed="rId5"/>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F14FE42A-8916-7F94-D8D7-BF2F65343D54}"/>
              </a:ext>
            </a:extLst>
          </p:cNvPr>
          <p:cNvPicPr>
            <a:picLocks noChangeAspect="1"/>
          </p:cNvPicPr>
          <p:nvPr/>
        </p:nvPicPr>
        <p:blipFill>
          <a:blip r:embed="rId6"/>
          <a:stretch>
            <a:fillRect/>
          </a:stretch>
        </p:blipFill>
        <p:spPr>
          <a:xfrm>
            <a:off x="0" y="6457950"/>
            <a:ext cx="12192000" cy="400050"/>
          </a:xfrm>
          <a:prstGeom prst="rect">
            <a:avLst/>
          </a:prstGeom>
        </p:spPr>
      </p:pic>
      <p:sp>
        <p:nvSpPr>
          <p:cNvPr id="7" name="TextBox 6">
            <a:extLst>
              <a:ext uri="{FF2B5EF4-FFF2-40B4-BE49-F238E27FC236}">
                <a16:creationId xmlns:a16="http://schemas.microsoft.com/office/drawing/2014/main" id="{2EC6071D-0D0E-8E3A-FEC7-51C7B858AA9D}"/>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3" name="TextBox 2">
            <a:extLst>
              <a:ext uri="{FF2B5EF4-FFF2-40B4-BE49-F238E27FC236}">
                <a16:creationId xmlns:a16="http://schemas.microsoft.com/office/drawing/2014/main" id="{E4CAA731-3A40-BC3F-7B53-E2F418B35C3D}"/>
              </a:ext>
            </a:extLst>
          </p:cNvPr>
          <p:cNvSpPr txBox="1"/>
          <p:nvPr/>
        </p:nvSpPr>
        <p:spPr>
          <a:xfrm>
            <a:off x="11811000" y="6504087"/>
            <a:ext cx="381000" cy="307777"/>
          </a:xfrm>
          <a:prstGeom prst="rect">
            <a:avLst/>
          </a:prstGeom>
          <a:noFill/>
        </p:spPr>
        <p:txBody>
          <a:bodyPr wrap="square">
            <a:spAutoFit/>
          </a:bodyPr>
          <a:lstStyle/>
          <a:p>
            <a:r>
              <a:rPr lang="en-US" sz="1400" dirty="0">
                <a:solidFill>
                  <a:schemeClr val="bg1"/>
                </a:solidFill>
              </a:rPr>
              <a:t>11</a:t>
            </a:r>
          </a:p>
        </p:txBody>
      </p:sp>
    </p:spTree>
    <p:extLst>
      <p:ext uri="{BB962C8B-B14F-4D97-AF65-F5344CB8AC3E}">
        <p14:creationId xmlns:p14="http://schemas.microsoft.com/office/powerpoint/2010/main" val="431935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C928C-012A-19E6-5478-EC53B6AA02E4}"/>
            </a:ext>
          </a:extLst>
        </p:cNvPr>
        <p:cNvGrpSpPr/>
        <p:nvPr/>
      </p:nvGrpSpPr>
      <p:grpSpPr>
        <a:xfrm>
          <a:off x="0" y="0"/>
          <a:ext cx="0" cy="0"/>
          <a:chOff x="0" y="0"/>
          <a:chExt cx="0" cy="0"/>
        </a:xfrm>
      </p:grpSpPr>
      <p:pic>
        <p:nvPicPr>
          <p:cNvPr id="2" name="f+004.39_g200_233833">
            <a:hlinkClick r:id="" action="ppaction://media"/>
            <a:extLst>
              <a:ext uri="{FF2B5EF4-FFF2-40B4-BE49-F238E27FC236}">
                <a16:creationId xmlns:a16="http://schemas.microsoft.com/office/drawing/2014/main" id="{3C88D149-387B-4194-FB4B-1C40B9966B0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1"/>
            <a:ext cx="12221028" cy="6457949"/>
          </a:xfrm>
          <a:prstGeom prst="rect">
            <a:avLst/>
          </a:prstGeom>
        </p:spPr>
      </p:pic>
      <p:sp>
        <p:nvSpPr>
          <p:cNvPr id="4" name="Title 1">
            <a:extLst>
              <a:ext uri="{FF2B5EF4-FFF2-40B4-BE49-F238E27FC236}">
                <a16:creationId xmlns:a16="http://schemas.microsoft.com/office/drawing/2014/main" id="{6155425B-8E22-D1C6-5657-5171B4FF63CA}"/>
              </a:ext>
            </a:extLst>
          </p:cNvPr>
          <p:cNvSpPr>
            <a:spLocks noGrp="1"/>
          </p:cNvSpPr>
          <p:nvPr>
            <p:ph type="title"/>
          </p:nvPr>
        </p:nvSpPr>
        <p:spPr>
          <a:xfrm>
            <a:off x="838200" y="365125"/>
            <a:ext cx="10515600" cy="1325563"/>
          </a:xfrm>
        </p:spPr>
        <p:txBody>
          <a:bodyPr/>
          <a:lstStyle/>
          <a:p>
            <a:r>
              <a:rPr lang="en-US" dirty="0"/>
              <a:t>Improved Sensation (f=4.39)</a:t>
            </a:r>
          </a:p>
        </p:txBody>
      </p:sp>
      <p:pic>
        <p:nvPicPr>
          <p:cNvPr id="5" name="Picture 4">
            <a:extLst>
              <a:ext uri="{FF2B5EF4-FFF2-40B4-BE49-F238E27FC236}">
                <a16:creationId xmlns:a16="http://schemas.microsoft.com/office/drawing/2014/main" id="{47309C14-B889-03FF-B70C-DA7D2A26A3C7}"/>
              </a:ext>
            </a:extLst>
          </p:cNvPr>
          <p:cNvPicPr>
            <a:picLocks noChangeAspect="1"/>
          </p:cNvPicPr>
          <p:nvPr/>
        </p:nvPicPr>
        <p:blipFill>
          <a:blip r:embed="rId5"/>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241EE595-61AB-15E5-AC30-7217C5C86E4F}"/>
              </a:ext>
            </a:extLst>
          </p:cNvPr>
          <p:cNvPicPr>
            <a:picLocks noChangeAspect="1"/>
          </p:cNvPicPr>
          <p:nvPr/>
        </p:nvPicPr>
        <p:blipFill>
          <a:blip r:embed="rId6"/>
          <a:stretch>
            <a:fillRect/>
          </a:stretch>
        </p:blipFill>
        <p:spPr>
          <a:xfrm>
            <a:off x="0" y="6457950"/>
            <a:ext cx="12192000" cy="400050"/>
          </a:xfrm>
          <a:prstGeom prst="rect">
            <a:avLst/>
          </a:prstGeom>
        </p:spPr>
      </p:pic>
      <p:sp>
        <p:nvSpPr>
          <p:cNvPr id="7" name="TextBox 6">
            <a:extLst>
              <a:ext uri="{FF2B5EF4-FFF2-40B4-BE49-F238E27FC236}">
                <a16:creationId xmlns:a16="http://schemas.microsoft.com/office/drawing/2014/main" id="{13EAC42F-601F-707D-73D5-EDA404211E37}"/>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3" name="TextBox 2">
            <a:extLst>
              <a:ext uri="{FF2B5EF4-FFF2-40B4-BE49-F238E27FC236}">
                <a16:creationId xmlns:a16="http://schemas.microsoft.com/office/drawing/2014/main" id="{56FA17B8-8798-D9B7-E2C8-B528B6C0D476}"/>
              </a:ext>
            </a:extLst>
          </p:cNvPr>
          <p:cNvSpPr txBox="1"/>
          <p:nvPr/>
        </p:nvSpPr>
        <p:spPr>
          <a:xfrm>
            <a:off x="11811000" y="6504087"/>
            <a:ext cx="381000" cy="307777"/>
          </a:xfrm>
          <a:prstGeom prst="rect">
            <a:avLst/>
          </a:prstGeom>
          <a:noFill/>
        </p:spPr>
        <p:txBody>
          <a:bodyPr wrap="square">
            <a:spAutoFit/>
          </a:bodyPr>
          <a:lstStyle/>
          <a:p>
            <a:r>
              <a:rPr lang="en-US" sz="1400" dirty="0">
                <a:solidFill>
                  <a:schemeClr val="bg1"/>
                </a:solidFill>
              </a:rPr>
              <a:t>12</a:t>
            </a:r>
          </a:p>
        </p:txBody>
      </p:sp>
    </p:spTree>
    <p:extLst>
      <p:ext uri="{BB962C8B-B14F-4D97-AF65-F5344CB8AC3E}">
        <p14:creationId xmlns:p14="http://schemas.microsoft.com/office/powerpoint/2010/main" val="121123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E34C1-DEE4-3A31-E760-C249EB279249}"/>
            </a:ext>
          </a:extLst>
        </p:cNvPr>
        <p:cNvGrpSpPr/>
        <p:nvPr/>
      </p:nvGrpSpPr>
      <p:grpSpPr>
        <a:xfrm>
          <a:off x="0" y="0"/>
          <a:ext cx="0" cy="0"/>
          <a:chOff x="0" y="0"/>
          <a:chExt cx="0" cy="0"/>
        </a:xfrm>
      </p:grpSpPr>
      <p:pic>
        <p:nvPicPr>
          <p:cNvPr id="2" name="f+005.14_g116_053033">
            <a:hlinkClick r:id="" action="ppaction://media"/>
            <a:extLst>
              <a:ext uri="{FF2B5EF4-FFF2-40B4-BE49-F238E27FC236}">
                <a16:creationId xmlns:a16="http://schemas.microsoft.com/office/drawing/2014/main" id="{B80B2331-9143-155F-6007-887C298CABA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1"/>
            <a:ext cx="12192000" cy="6492876"/>
          </a:xfrm>
          <a:prstGeom prst="rect">
            <a:avLst/>
          </a:prstGeom>
        </p:spPr>
      </p:pic>
      <p:sp>
        <p:nvSpPr>
          <p:cNvPr id="4" name="Title 1">
            <a:extLst>
              <a:ext uri="{FF2B5EF4-FFF2-40B4-BE49-F238E27FC236}">
                <a16:creationId xmlns:a16="http://schemas.microsoft.com/office/drawing/2014/main" id="{7C422FEF-6DA5-B108-E789-A57DB189DC2E}"/>
              </a:ext>
            </a:extLst>
          </p:cNvPr>
          <p:cNvSpPr>
            <a:spLocks noGrp="1"/>
          </p:cNvSpPr>
          <p:nvPr>
            <p:ph type="title"/>
          </p:nvPr>
        </p:nvSpPr>
        <p:spPr>
          <a:xfrm>
            <a:off x="838200" y="365125"/>
            <a:ext cx="10515600" cy="1325563"/>
          </a:xfrm>
        </p:spPr>
        <p:txBody>
          <a:bodyPr/>
          <a:lstStyle/>
          <a:p>
            <a:r>
              <a:rPr lang="en-US" dirty="0"/>
              <a:t>Enable/Activation Functions (f=5.14)</a:t>
            </a:r>
          </a:p>
        </p:txBody>
      </p:sp>
      <p:pic>
        <p:nvPicPr>
          <p:cNvPr id="5" name="Picture 4">
            <a:extLst>
              <a:ext uri="{FF2B5EF4-FFF2-40B4-BE49-F238E27FC236}">
                <a16:creationId xmlns:a16="http://schemas.microsoft.com/office/drawing/2014/main" id="{C51A9E87-C6FB-DC50-2EA5-96971C26DBB2}"/>
              </a:ext>
            </a:extLst>
          </p:cNvPr>
          <p:cNvPicPr>
            <a:picLocks noChangeAspect="1"/>
          </p:cNvPicPr>
          <p:nvPr/>
        </p:nvPicPr>
        <p:blipFill>
          <a:blip r:embed="rId5"/>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B7D1B5B1-12C2-AF61-EC29-CCCACB048A22}"/>
              </a:ext>
            </a:extLst>
          </p:cNvPr>
          <p:cNvPicPr>
            <a:picLocks noChangeAspect="1"/>
          </p:cNvPicPr>
          <p:nvPr/>
        </p:nvPicPr>
        <p:blipFill>
          <a:blip r:embed="rId6"/>
          <a:stretch>
            <a:fillRect/>
          </a:stretch>
        </p:blipFill>
        <p:spPr>
          <a:xfrm>
            <a:off x="0" y="6457950"/>
            <a:ext cx="12192000" cy="400050"/>
          </a:xfrm>
          <a:prstGeom prst="rect">
            <a:avLst/>
          </a:prstGeom>
        </p:spPr>
      </p:pic>
      <p:sp>
        <p:nvSpPr>
          <p:cNvPr id="7" name="TextBox 6">
            <a:extLst>
              <a:ext uri="{FF2B5EF4-FFF2-40B4-BE49-F238E27FC236}">
                <a16:creationId xmlns:a16="http://schemas.microsoft.com/office/drawing/2014/main" id="{27CCF210-D87D-AE49-76EE-67AD6A2D4DDB}"/>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3" name="TextBox 2">
            <a:extLst>
              <a:ext uri="{FF2B5EF4-FFF2-40B4-BE49-F238E27FC236}">
                <a16:creationId xmlns:a16="http://schemas.microsoft.com/office/drawing/2014/main" id="{570D60CD-7531-F2E5-9C77-C36E1726B63A}"/>
              </a:ext>
            </a:extLst>
          </p:cNvPr>
          <p:cNvSpPr txBox="1"/>
          <p:nvPr/>
        </p:nvSpPr>
        <p:spPr>
          <a:xfrm>
            <a:off x="11811000" y="6504087"/>
            <a:ext cx="381000" cy="307777"/>
          </a:xfrm>
          <a:prstGeom prst="rect">
            <a:avLst/>
          </a:prstGeom>
          <a:noFill/>
        </p:spPr>
        <p:txBody>
          <a:bodyPr wrap="square">
            <a:spAutoFit/>
          </a:bodyPr>
          <a:lstStyle/>
          <a:p>
            <a:r>
              <a:rPr lang="en-US" sz="1400" dirty="0">
                <a:solidFill>
                  <a:schemeClr val="bg1"/>
                </a:solidFill>
              </a:rPr>
              <a:t>13</a:t>
            </a:r>
          </a:p>
        </p:txBody>
      </p:sp>
    </p:spTree>
    <p:extLst>
      <p:ext uri="{BB962C8B-B14F-4D97-AF65-F5344CB8AC3E}">
        <p14:creationId xmlns:p14="http://schemas.microsoft.com/office/powerpoint/2010/main" val="131888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f+005.61_g422_182108">
            <a:hlinkClick r:id="" action="ppaction://media"/>
            <a:extLst>
              <a:ext uri="{FF2B5EF4-FFF2-40B4-BE49-F238E27FC236}">
                <a16:creationId xmlns:a16="http://schemas.microsoft.com/office/drawing/2014/main" id="{E1C8E460-0D70-9EC6-2ECA-A58E124C48B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
            <a:ext cx="12192000" cy="6492875"/>
          </a:xfrm>
          <a:prstGeom prst="rect">
            <a:avLst/>
          </a:prstGeom>
        </p:spPr>
      </p:pic>
      <p:sp>
        <p:nvSpPr>
          <p:cNvPr id="5" name="Title 1">
            <a:extLst>
              <a:ext uri="{FF2B5EF4-FFF2-40B4-BE49-F238E27FC236}">
                <a16:creationId xmlns:a16="http://schemas.microsoft.com/office/drawing/2014/main" id="{A5B865D8-9D58-7F3D-1B0B-C5046118170D}"/>
              </a:ext>
            </a:extLst>
          </p:cNvPr>
          <p:cNvSpPr>
            <a:spLocks noGrp="1"/>
          </p:cNvSpPr>
          <p:nvPr>
            <p:ph type="title"/>
          </p:nvPr>
        </p:nvSpPr>
        <p:spPr>
          <a:xfrm>
            <a:off x="838200" y="365125"/>
            <a:ext cx="10515600" cy="1325563"/>
          </a:xfrm>
        </p:spPr>
        <p:txBody>
          <a:bodyPr/>
          <a:lstStyle/>
          <a:p>
            <a:r>
              <a:rPr lang="en-US" dirty="0"/>
              <a:t>Dynamic Parameter Scheduling (f=5.61)</a:t>
            </a:r>
          </a:p>
        </p:txBody>
      </p:sp>
      <p:pic>
        <p:nvPicPr>
          <p:cNvPr id="6" name="Picture 5">
            <a:extLst>
              <a:ext uri="{FF2B5EF4-FFF2-40B4-BE49-F238E27FC236}">
                <a16:creationId xmlns:a16="http://schemas.microsoft.com/office/drawing/2014/main" id="{CCF421B5-72B3-88A0-2EFC-7CBE8868C6B9}"/>
              </a:ext>
            </a:extLst>
          </p:cNvPr>
          <p:cNvPicPr>
            <a:picLocks noChangeAspect="1"/>
          </p:cNvPicPr>
          <p:nvPr/>
        </p:nvPicPr>
        <p:blipFill>
          <a:blip r:embed="rId6"/>
          <a:stretch>
            <a:fillRect/>
          </a:stretch>
        </p:blipFill>
        <p:spPr>
          <a:xfrm>
            <a:off x="10037075" y="112620"/>
            <a:ext cx="2043655" cy="1125337"/>
          </a:xfrm>
          <a:prstGeom prst="rect">
            <a:avLst/>
          </a:prstGeom>
        </p:spPr>
      </p:pic>
      <p:pic>
        <p:nvPicPr>
          <p:cNvPr id="7" name="Picture 6">
            <a:extLst>
              <a:ext uri="{FF2B5EF4-FFF2-40B4-BE49-F238E27FC236}">
                <a16:creationId xmlns:a16="http://schemas.microsoft.com/office/drawing/2014/main" id="{8739C2EB-E1FB-55D6-B0BA-7CA81C5FD70B}"/>
              </a:ext>
            </a:extLst>
          </p:cNvPr>
          <p:cNvPicPr>
            <a:picLocks noChangeAspect="1"/>
          </p:cNvPicPr>
          <p:nvPr/>
        </p:nvPicPr>
        <p:blipFill>
          <a:blip r:embed="rId7"/>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DEE025E0-149F-CCF3-8826-FA75AAF715BB}"/>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9" name="TextBox 8">
            <a:extLst>
              <a:ext uri="{FF2B5EF4-FFF2-40B4-BE49-F238E27FC236}">
                <a16:creationId xmlns:a16="http://schemas.microsoft.com/office/drawing/2014/main" id="{95E37BFB-9AAF-0CEC-DDCA-A9FA8AAB740F}"/>
              </a:ext>
            </a:extLst>
          </p:cNvPr>
          <p:cNvSpPr txBox="1"/>
          <p:nvPr/>
        </p:nvSpPr>
        <p:spPr>
          <a:xfrm>
            <a:off x="11811000" y="6504087"/>
            <a:ext cx="381000" cy="307777"/>
          </a:xfrm>
          <a:prstGeom prst="rect">
            <a:avLst/>
          </a:prstGeom>
          <a:noFill/>
        </p:spPr>
        <p:txBody>
          <a:bodyPr wrap="square">
            <a:spAutoFit/>
          </a:bodyPr>
          <a:lstStyle/>
          <a:p>
            <a:r>
              <a:rPr lang="en-US" sz="1400" dirty="0">
                <a:solidFill>
                  <a:schemeClr val="bg1"/>
                </a:solidFill>
              </a:rPr>
              <a:t>14</a:t>
            </a:r>
          </a:p>
        </p:txBody>
      </p:sp>
    </p:spTree>
    <p:extLst>
      <p:ext uri="{BB962C8B-B14F-4D97-AF65-F5344CB8AC3E}">
        <p14:creationId xmlns:p14="http://schemas.microsoft.com/office/powerpoint/2010/main" val="39068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667"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63287-BC36-31FB-91B1-5F0E83D12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97954-AFEE-DFD8-4AC3-2F1E6E363ADA}"/>
              </a:ext>
            </a:extLst>
          </p:cNvPr>
          <p:cNvSpPr>
            <a:spLocks noGrp="1"/>
          </p:cNvSpPr>
          <p:nvPr>
            <p:ph type="title"/>
          </p:nvPr>
        </p:nvSpPr>
        <p:spPr/>
        <p:txBody>
          <a:bodyPr/>
          <a:lstStyle/>
          <a:p>
            <a:r>
              <a:rPr lang="en-US" dirty="0"/>
              <a:t>Results and Discussion</a:t>
            </a:r>
          </a:p>
        </p:txBody>
      </p:sp>
      <p:pic>
        <p:nvPicPr>
          <p:cNvPr id="4" name="Picture 3">
            <a:extLst>
              <a:ext uri="{FF2B5EF4-FFF2-40B4-BE49-F238E27FC236}">
                <a16:creationId xmlns:a16="http://schemas.microsoft.com/office/drawing/2014/main" id="{C57BCC14-D465-25D2-7F3E-79CF0E8205CD}"/>
              </a:ext>
            </a:extLst>
          </p:cNvPr>
          <p:cNvPicPr>
            <a:picLocks noChangeAspect="1"/>
          </p:cNvPicPr>
          <p:nvPr/>
        </p:nvPicPr>
        <p:blipFill>
          <a:blip r:embed="rId3"/>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3627BEB0-F483-83CD-996D-7630451F2F03}"/>
              </a:ext>
            </a:extLst>
          </p:cNvPr>
          <p:cNvPicPr>
            <a:picLocks noChangeAspect="1"/>
          </p:cNvPicPr>
          <p:nvPr/>
        </p:nvPicPr>
        <p:blipFill>
          <a:blip r:embed="rId4"/>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838F09E1-8282-97E0-E443-D72091A1C801}"/>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pic>
        <p:nvPicPr>
          <p:cNvPr id="11" name="Picture 10" descr="A graph of a graph&#10;&#10;AI-generated content may be incorrect.">
            <a:extLst>
              <a:ext uri="{FF2B5EF4-FFF2-40B4-BE49-F238E27FC236}">
                <a16:creationId xmlns:a16="http://schemas.microsoft.com/office/drawing/2014/main" id="{ED61D36F-F1DD-0DFD-34D3-1DDA5D0551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8921" y="1340126"/>
            <a:ext cx="6098344" cy="5071687"/>
          </a:xfrm>
          <a:prstGeom prst="rect">
            <a:avLst/>
          </a:prstGeom>
        </p:spPr>
      </p:pic>
      <p:sp>
        <p:nvSpPr>
          <p:cNvPr id="13" name="TextBox 12">
            <a:extLst>
              <a:ext uri="{FF2B5EF4-FFF2-40B4-BE49-F238E27FC236}">
                <a16:creationId xmlns:a16="http://schemas.microsoft.com/office/drawing/2014/main" id="{08EA4E4F-C017-126A-1366-C140D0F6BFAC}"/>
              </a:ext>
            </a:extLst>
          </p:cNvPr>
          <p:cNvSpPr txBox="1"/>
          <p:nvPr/>
        </p:nvSpPr>
        <p:spPr>
          <a:xfrm>
            <a:off x="418271" y="1475312"/>
            <a:ext cx="5200650" cy="4524315"/>
          </a:xfrm>
          <a:prstGeom prst="rect">
            <a:avLst/>
          </a:prstGeom>
          <a:noFill/>
        </p:spPr>
        <p:txBody>
          <a:bodyPr wrap="square">
            <a:spAutoFit/>
          </a:bodyPr>
          <a:lstStyle/>
          <a:p>
            <a:pPr>
              <a:buNone/>
            </a:pPr>
            <a:r>
              <a:rPr lang="en-US" b="1" dirty="0"/>
              <a:t>The Good:</a:t>
            </a:r>
            <a:endParaRPr lang="en-US" dirty="0"/>
          </a:p>
          <a:p>
            <a:pPr>
              <a:buFont typeface="Arial" panose="020B0604020202020204" pitchFamily="34" charset="0"/>
              <a:buChar char="•"/>
            </a:pPr>
            <a:r>
              <a:rPr lang="en-US" dirty="0"/>
              <a:t>Rapid early progress (0-50 generations) - the exploration phase works well</a:t>
            </a:r>
          </a:p>
          <a:p>
            <a:pPr>
              <a:buFont typeface="Arial" panose="020B0604020202020204" pitchFamily="34" charset="0"/>
              <a:buChar char="•"/>
            </a:pPr>
            <a:r>
              <a:rPr lang="en-US" dirty="0"/>
              <a:t>Successfully breaks through the long plateau around generation 300</a:t>
            </a:r>
          </a:p>
          <a:p>
            <a:pPr>
              <a:buFont typeface="Arial" panose="020B0604020202020204" pitchFamily="34" charset="0"/>
              <a:buChar char="•"/>
            </a:pPr>
            <a:r>
              <a:rPr lang="en-US" dirty="0"/>
              <a:t>Species diversity shows healthy fluctuations, indicating the compatibility threshold adjustments are working</a:t>
            </a:r>
          </a:p>
          <a:p>
            <a:endParaRPr lang="en-US" dirty="0"/>
          </a:p>
          <a:p>
            <a:pPr>
              <a:buNone/>
            </a:pPr>
            <a:r>
              <a:rPr lang="en-US" b="1" dirty="0"/>
              <a:t>The Bad:</a:t>
            </a:r>
            <a:endParaRPr lang="en-US" dirty="0"/>
          </a:p>
          <a:p>
            <a:pPr>
              <a:buFont typeface="Arial" panose="020B0604020202020204" pitchFamily="34" charset="0"/>
              <a:buChar char="•"/>
            </a:pPr>
            <a:r>
              <a:rPr lang="en-US" dirty="0"/>
              <a:t>That massive plateau from ~100-300 is brutal - 200 generations of stagnation!</a:t>
            </a:r>
          </a:p>
          <a:p>
            <a:pPr>
              <a:buFont typeface="Arial" panose="020B0604020202020204" pitchFamily="34" charset="0"/>
              <a:buChar char="•"/>
            </a:pPr>
            <a:r>
              <a:rPr lang="en-US" dirty="0"/>
              <a:t>Average fitness remains very low throughout, suggesting many individuals are poorly performing</a:t>
            </a:r>
          </a:p>
          <a:p>
            <a:pPr>
              <a:buFont typeface="Arial" panose="020B0604020202020204" pitchFamily="34" charset="0"/>
              <a:buChar char="•"/>
            </a:pPr>
            <a:r>
              <a:rPr lang="en-US" dirty="0"/>
              <a:t>The species count explosions (up to 29!) might be too extreme</a:t>
            </a:r>
          </a:p>
        </p:txBody>
      </p:sp>
      <p:sp>
        <p:nvSpPr>
          <p:cNvPr id="14" name="TextBox 13">
            <a:extLst>
              <a:ext uri="{FF2B5EF4-FFF2-40B4-BE49-F238E27FC236}">
                <a16:creationId xmlns:a16="http://schemas.microsoft.com/office/drawing/2014/main" id="{93718C03-B8A6-79AA-AC58-499963C0E49F}"/>
              </a:ext>
            </a:extLst>
          </p:cNvPr>
          <p:cNvSpPr txBox="1"/>
          <p:nvPr/>
        </p:nvSpPr>
        <p:spPr>
          <a:xfrm>
            <a:off x="11811000" y="6504087"/>
            <a:ext cx="381000" cy="307777"/>
          </a:xfrm>
          <a:prstGeom prst="rect">
            <a:avLst/>
          </a:prstGeom>
          <a:noFill/>
        </p:spPr>
        <p:txBody>
          <a:bodyPr wrap="square">
            <a:spAutoFit/>
          </a:bodyPr>
          <a:lstStyle/>
          <a:p>
            <a:r>
              <a:rPr lang="en-US" sz="1400" dirty="0">
                <a:solidFill>
                  <a:schemeClr val="bg1"/>
                </a:solidFill>
              </a:rPr>
              <a:t>15</a:t>
            </a:r>
          </a:p>
        </p:txBody>
      </p:sp>
    </p:spTree>
    <p:extLst>
      <p:ext uri="{BB962C8B-B14F-4D97-AF65-F5344CB8AC3E}">
        <p14:creationId xmlns:p14="http://schemas.microsoft.com/office/powerpoint/2010/main" val="2637139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91F66-50CC-12F0-A406-46BA2452C152}"/>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B45D034-79D3-7E91-ED27-95DF0A4E085C}"/>
              </a:ext>
            </a:extLst>
          </p:cNvPr>
          <p:cNvPicPr>
            <a:picLocks noChangeAspect="1"/>
          </p:cNvPicPr>
          <p:nvPr/>
        </p:nvPicPr>
        <p:blipFill>
          <a:blip r:embed="rId3"/>
          <a:stretch>
            <a:fillRect/>
          </a:stretch>
        </p:blipFill>
        <p:spPr>
          <a:xfrm>
            <a:off x="0" y="6457950"/>
            <a:ext cx="12192000" cy="400050"/>
          </a:xfrm>
          <a:prstGeom prst="rect">
            <a:avLst/>
          </a:prstGeom>
        </p:spPr>
      </p:pic>
      <p:sp>
        <p:nvSpPr>
          <p:cNvPr id="2" name="Title 1">
            <a:extLst>
              <a:ext uri="{FF2B5EF4-FFF2-40B4-BE49-F238E27FC236}">
                <a16:creationId xmlns:a16="http://schemas.microsoft.com/office/drawing/2014/main" id="{32EC8B81-BB51-0124-98C7-F752FDD9A063}"/>
              </a:ext>
            </a:extLst>
          </p:cNvPr>
          <p:cNvSpPr>
            <a:spLocks noGrp="1"/>
          </p:cNvSpPr>
          <p:nvPr>
            <p:ph type="title"/>
          </p:nvPr>
        </p:nvSpPr>
        <p:spPr/>
        <p:txBody>
          <a:bodyPr/>
          <a:lstStyle/>
          <a:p>
            <a:r>
              <a:rPr lang="en-US" dirty="0"/>
              <a:t>Challenges and Risks</a:t>
            </a:r>
          </a:p>
        </p:txBody>
      </p:sp>
      <p:pic>
        <p:nvPicPr>
          <p:cNvPr id="4" name="Picture 3">
            <a:extLst>
              <a:ext uri="{FF2B5EF4-FFF2-40B4-BE49-F238E27FC236}">
                <a16:creationId xmlns:a16="http://schemas.microsoft.com/office/drawing/2014/main" id="{534402B8-A32B-EFF4-D7F2-F1042C1DA3EE}"/>
              </a:ext>
            </a:extLst>
          </p:cNvPr>
          <p:cNvPicPr>
            <a:picLocks noChangeAspect="1"/>
          </p:cNvPicPr>
          <p:nvPr/>
        </p:nvPicPr>
        <p:blipFill>
          <a:blip r:embed="rId4"/>
          <a:stretch>
            <a:fillRect/>
          </a:stretch>
        </p:blipFill>
        <p:spPr>
          <a:xfrm>
            <a:off x="10037075" y="112620"/>
            <a:ext cx="2043655" cy="1125337"/>
          </a:xfrm>
          <a:prstGeom prst="rect">
            <a:avLst/>
          </a:prstGeom>
        </p:spPr>
      </p:pic>
      <p:sp>
        <p:nvSpPr>
          <p:cNvPr id="8" name="TextBox 7">
            <a:extLst>
              <a:ext uri="{FF2B5EF4-FFF2-40B4-BE49-F238E27FC236}">
                <a16:creationId xmlns:a16="http://schemas.microsoft.com/office/drawing/2014/main" id="{9AE5A754-B5FA-C8ED-E22B-DDB170921D9C}"/>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3" name="TextBox 2">
            <a:extLst>
              <a:ext uri="{FF2B5EF4-FFF2-40B4-BE49-F238E27FC236}">
                <a16:creationId xmlns:a16="http://schemas.microsoft.com/office/drawing/2014/main" id="{7F83718C-1408-F0D6-82B6-79C444C2F97D}"/>
              </a:ext>
            </a:extLst>
          </p:cNvPr>
          <p:cNvSpPr txBox="1"/>
          <p:nvPr/>
        </p:nvSpPr>
        <p:spPr>
          <a:xfrm>
            <a:off x="11811000" y="6504087"/>
            <a:ext cx="381000" cy="307777"/>
          </a:xfrm>
          <a:prstGeom prst="rect">
            <a:avLst/>
          </a:prstGeom>
          <a:noFill/>
        </p:spPr>
        <p:txBody>
          <a:bodyPr wrap="square">
            <a:spAutoFit/>
          </a:bodyPr>
          <a:lstStyle/>
          <a:p>
            <a:r>
              <a:rPr lang="en-US" sz="1400" dirty="0">
                <a:solidFill>
                  <a:schemeClr val="bg1"/>
                </a:solidFill>
              </a:rPr>
              <a:t>16</a:t>
            </a:r>
          </a:p>
        </p:txBody>
      </p:sp>
      <p:sp>
        <p:nvSpPr>
          <p:cNvPr id="10" name="TextBox 9">
            <a:extLst>
              <a:ext uri="{FF2B5EF4-FFF2-40B4-BE49-F238E27FC236}">
                <a16:creationId xmlns:a16="http://schemas.microsoft.com/office/drawing/2014/main" id="{6BE06AAE-3DE1-34DC-9510-446C68972856}"/>
              </a:ext>
            </a:extLst>
          </p:cNvPr>
          <p:cNvSpPr txBox="1"/>
          <p:nvPr/>
        </p:nvSpPr>
        <p:spPr>
          <a:xfrm>
            <a:off x="838200" y="1566952"/>
            <a:ext cx="10820400" cy="3724096"/>
          </a:xfrm>
          <a:prstGeom prst="rect">
            <a:avLst/>
          </a:prstGeom>
          <a:noFill/>
        </p:spPr>
        <p:txBody>
          <a:bodyPr wrap="square">
            <a:spAutoFit/>
          </a:bodyPr>
          <a:lstStyle/>
          <a:p>
            <a:r>
              <a:rPr lang="en-US" sz="2800" b="1" dirty="0"/>
              <a:t>Challenges Faced:</a:t>
            </a:r>
            <a:endParaRPr lang="en-US" sz="2800" dirty="0"/>
          </a:p>
          <a:p>
            <a:pPr marL="342900" indent="-342900">
              <a:buFont typeface="Arial" panose="020B0604020202020204" pitchFamily="34" charset="0"/>
              <a:buChar char="•"/>
            </a:pPr>
            <a:r>
              <a:rPr lang="en-US" sz="2000" b="1" dirty="0"/>
              <a:t>Computational Complexity</a:t>
            </a:r>
            <a:r>
              <a:rPr lang="en-US" sz="2000" dirty="0"/>
              <a:t>: So many robots to evaluate</a:t>
            </a:r>
          </a:p>
          <a:p>
            <a:pPr marL="342900" indent="-342900">
              <a:buFont typeface="Arial" panose="020B0604020202020204" pitchFamily="34" charset="0"/>
              <a:buChar char="•"/>
            </a:pPr>
            <a:r>
              <a:rPr lang="en-US" sz="2000" b="1" dirty="0"/>
              <a:t>Limited Time</a:t>
            </a:r>
            <a:r>
              <a:rPr lang="en-US" sz="2000" dirty="0"/>
              <a:t>: Presentation deadline approaching</a:t>
            </a:r>
          </a:p>
          <a:p>
            <a:pPr marL="342900" indent="-342900">
              <a:buFont typeface="Arial" panose="020B0604020202020204" pitchFamily="34" charset="0"/>
              <a:buChar char="•"/>
            </a:pPr>
            <a:r>
              <a:rPr lang="en-US" sz="2000" b="1" dirty="0"/>
              <a:t>Parameter Tuning</a:t>
            </a:r>
            <a:r>
              <a:rPr lang="en-US" sz="2000" dirty="0"/>
              <a:t>: 20+ interacting parameters with no clear optimal values</a:t>
            </a:r>
          </a:p>
          <a:p>
            <a:pPr marL="342900" indent="-342900">
              <a:buFont typeface="Arial" panose="020B0604020202020204" pitchFamily="34" charset="0"/>
              <a:buChar char="•"/>
            </a:pPr>
            <a:r>
              <a:rPr lang="en-US" sz="2000" b="1" dirty="0"/>
              <a:t>Expensive Mistakes</a:t>
            </a:r>
            <a:r>
              <a:rPr lang="en-US" sz="2000" dirty="0"/>
              <a:t>: Code bugs or bad parameters waste days of compute</a:t>
            </a:r>
          </a:p>
          <a:p>
            <a:endParaRPr lang="en-US" sz="2000" dirty="0"/>
          </a:p>
          <a:p>
            <a:r>
              <a:rPr lang="en-US" sz="2800" b="1" dirty="0"/>
              <a:t>How I Addressed Them:</a:t>
            </a:r>
            <a:endParaRPr lang="en-US" sz="2800" dirty="0"/>
          </a:p>
          <a:p>
            <a:pPr marL="342900" indent="-342900">
              <a:buFont typeface="Arial" panose="020B0604020202020204" pitchFamily="34" charset="0"/>
              <a:buChar char="•"/>
            </a:pPr>
            <a:r>
              <a:rPr lang="en-US" sz="2000" b="1" dirty="0"/>
              <a:t>Multiprocessing</a:t>
            </a:r>
            <a:r>
              <a:rPr lang="en-US" sz="2000" dirty="0"/>
              <a:t>: Parallel evaluation across all CPU cores</a:t>
            </a:r>
          </a:p>
          <a:p>
            <a:pPr marL="342900" indent="-342900">
              <a:buFont typeface="Arial" panose="020B0604020202020204" pitchFamily="34" charset="0"/>
              <a:buChar char="•"/>
            </a:pPr>
            <a:r>
              <a:rPr lang="en-US" sz="2000" b="1" dirty="0"/>
              <a:t>Scope Reduction</a:t>
            </a:r>
            <a:r>
              <a:rPr lang="en-US" sz="2000" dirty="0"/>
              <a:t>: Focused on one solid implementation vs. multiple variants</a:t>
            </a:r>
          </a:p>
          <a:p>
            <a:pPr marL="342900" indent="-342900">
              <a:buFont typeface="Arial" panose="020B0604020202020204" pitchFamily="34" charset="0"/>
              <a:buChar char="•"/>
            </a:pPr>
            <a:r>
              <a:rPr lang="en-US" sz="2000" b="1" dirty="0"/>
              <a:t>Dynamic Scheduling</a:t>
            </a:r>
            <a:r>
              <a:rPr lang="en-US" sz="2000" dirty="0"/>
              <a:t>: Make it tune its own parameters</a:t>
            </a:r>
          </a:p>
          <a:p>
            <a:pPr marL="342900" indent="-342900">
              <a:buFont typeface="Arial" panose="020B0604020202020204" pitchFamily="34" charset="0"/>
              <a:buChar char="•"/>
            </a:pPr>
            <a:r>
              <a:rPr lang="en-US" sz="2000" b="1" dirty="0"/>
              <a:t>Additional Resources</a:t>
            </a:r>
            <a:r>
              <a:rPr lang="en-US" sz="2000" dirty="0"/>
              <a:t>: Recruited extra computers for parallel experiments</a:t>
            </a:r>
          </a:p>
        </p:txBody>
      </p:sp>
    </p:spTree>
    <p:extLst>
      <p:ext uri="{BB962C8B-B14F-4D97-AF65-F5344CB8AC3E}">
        <p14:creationId xmlns:p14="http://schemas.microsoft.com/office/powerpoint/2010/main" val="3087904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7EF76-33E6-EC32-D656-A206066CB7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B7BA0-4632-3CFF-8127-99C8DD2A5BBF}"/>
              </a:ext>
            </a:extLst>
          </p:cNvPr>
          <p:cNvSpPr>
            <a:spLocks noGrp="1"/>
          </p:cNvSpPr>
          <p:nvPr>
            <p:ph type="title"/>
          </p:nvPr>
        </p:nvSpPr>
        <p:spPr/>
        <p:txBody>
          <a:bodyPr/>
          <a:lstStyle/>
          <a:p>
            <a:r>
              <a:rPr lang="en-US" dirty="0"/>
              <a:t>Conclusion and Future Work</a:t>
            </a:r>
          </a:p>
        </p:txBody>
      </p:sp>
      <p:pic>
        <p:nvPicPr>
          <p:cNvPr id="4" name="Picture 3">
            <a:extLst>
              <a:ext uri="{FF2B5EF4-FFF2-40B4-BE49-F238E27FC236}">
                <a16:creationId xmlns:a16="http://schemas.microsoft.com/office/drawing/2014/main" id="{0B9B3BF1-55F1-9655-6D47-558A3A117CFF}"/>
              </a:ext>
            </a:extLst>
          </p:cNvPr>
          <p:cNvPicPr>
            <a:picLocks noChangeAspect="1"/>
          </p:cNvPicPr>
          <p:nvPr/>
        </p:nvPicPr>
        <p:blipFill>
          <a:blip r:embed="rId3"/>
          <a:stretch>
            <a:fillRect/>
          </a:stretch>
        </p:blipFill>
        <p:spPr>
          <a:xfrm>
            <a:off x="10037075" y="112620"/>
            <a:ext cx="2043655" cy="1125337"/>
          </a:xfrm>
          <a:prstGeom prst="rect">
            <a:avLst/>
          </a:prstGeom>
        </p:spPr>
      </p:pic>
      <p:pic>
        <p:nvPicPr>
          <p:cNvPr id="6" name="Picture 5">
            <a:extLst>
              <a:ext uri="{FF2B5EF4-FFF2-40B4-BE49-F238E27FC236}">
                <a16:creationId xmlns:a16="http://schemas.microsoft.com/office/drawing/2014/main" id="{4CD0331D-798E-C9C4-2CF5-551162CAC22E}"/>
              </a:ext>
            </a:extLst>
          </p:cNvPr>
          <p:cNvPicPr>
            <a:picLocks noChangeAspect="1"/>
          </p:cNvPicPr>
          <p:nvPr/>
        </p:nvPicPr>
        <p:blipFill>
          <a:blip r:embed="rId4"/>
          <a:stretch>
            <a:fillRect/>
          </a:stretch>
        </p:blipFill>
        <p:spPr>
          <a:xfrm>
            <a:off x="0" y="6457950"/>
            <a:ext cx="12192000" cy="400050"/>
          </a:xfrm>
          <a:prstGeom prst="rect">
            <a:avLst/>
          </a:prstGeom>
        </p:spPr>
      </p:pic>
      <p:sp>
        <p:nvSpPr>
          <p:cNvPr id="8" name="TextBox 7">
            <a:extLst>
              <a:ext uri="{FF2B5EF4-FFF2-40B4-BE49-F238E27FC236}">
                <a16:creationId xmlns:a16="http://schemas.microsoft.com/office/drawing/2014/main" id="{26559FC7-00D7-6D0D-6839-EB0C8DDE3D54}"/>
              </a:ext>
            </a:extLst>
          </p:cNvPr>
          <p:cNvSpPr txBox="1"/>
          <p:nvPr/>
        </p:nvSpPr>
        <p:spPr>
          <a:xfrm>
            <a:off x="0" y="6504086"/>
            <a:ext cx="6098344" cy="307777"/>
          </a:xfrm>
          <a:prstGeom prst="rect">
            <a:avLst/>
          </a:prstGeom>
          <a:noFill/>
        </p:spPr>
        <p:txBody>
          <a:bodyPr wrap="square">
            <a:spAutoFit/>
          </a:bodyPr>
          <a:lstStyle/>
          <a:p>
            <a:r>
              <a:rPr lang="en-US" sz="1400" dirty="0">
                <a:solidFill>
                  <a:schemeClr val="bg1"/>
                </a:solidFill>
              </a:rPr>
              <a:t>CSC 742 Evolutionary Computing</a:t>
            </a:r>
          </a:p>
        </p:txBody>
      </p:sp>
      <p:sp>
        <p:nvSpPr>
          <p:cNvPr id="7" name="Content Placeholder 6">
            <a:extLst>
              <a:ext uri="{FF2B5EF4-FFF2-40B4-BE49-F238E27FC236}">
                <a16:creationId xmlns:a16="http://schemas.microsoft.com/office/drawing/2014/main" id="{AC459A03-1B96-5186-90EE-46A21B1EC2AC}"/>
              </a:ext>
            </a:extLst>
          </p:cNvPr>
          <p:cNvSpPr>
            <a:spLocks noGrp="1"/>
          </p:cNvSpPr>
          <p:nvPr>
            <p:ph idx="1"/>
          </p:nvPr>
        </p:nvSpPr>
        <p:spPr>
          <a:xfrm>
            <a:off x="2419350" y="1690688"/>
            <a:ext cx="7353300" cy="3928415"/>
          </a:xfrm>
        </p:spPr>
        <p:txBody>
          <a:bodyPr>
            <a:normAutofit fontScale="55000" lnSpcReduction="20000"/>
          </a:bodyPr>
          <a:lstStyle/>
          <a:p>
            <a:pPr marL="0" indent="0">
              <a:buNone/>
            </a:pPr>
            <a:r>
              <a:rPr lang="en-US" sz="3600" b="1" dirty="0"/>
              <a:t>Accomplishments:</a:t>
            </a:r>
            <a:endParaRPr lang="en-US" sz="3600" dirty="0"/>
          </a:p>
          <a:p>
            <a:r>
              <a:rPr lang="en-US" dirty="0"/>
              <a:t>Successful NEAT implementation co-evolving bodies and brains</a:t>
            </a:r>
          </a:p>
          <a:p>
            <a:r>
              <a:rPr lang="en-US" dirty="0"/>
              <a:t>Demonstrated importance of speciation in protecting innovation</a:t>
            </a:r>
          </a:p>
          <a:p>
            <a:r>
              <a:rPr lang="en-US" dirty="0"/>
              <a:t>Created extensible framework for evolutionary robotics research</a:t>
            </a:r>
          </a:p>
          <a:p>
            <a:pPr marL="0" indent="0">
              <a:buNone/>
            </a:pPr>
            <a:r>
              <a:rPr lang="en-US" sz="3600" b="1" dirty="0"/>
              <a:t>Key Contributions:</a:t>
            </a:r>
            <a:endParaRPr lang="en-US" sz="3600" dirty="0"/>
          </a:p>
          <a:p>
            <a:r>
              <a:rPr lang="en-US" dirty="0"/>
              <a:t>Showed how each NEAT component enables emergent complexity</a:t>
            </a:r>
          </a:p>
          <a:p>
            <a:r>
              <a:rPr lang="en-US" dirty="0"/>
              <a:t>Developed dynamic scheduling for automated parameter tuning</a:t>
            </a:r>
          </a:p>
          <a:p>
            <a:pPr marL="0" indent="0">
              <a:buNone/>
            </a:pPr>
            <a:r>
              <a:rPr lang="en-US" sz="3600" b="1" dirty="0"/>
              <a:t>Future Directions:</a:t>
            </a:r>
            <a:endParaRPr lang="en-US" sz="3600" dirty="0"/>
          </a:p>
          <a:p>
            <a:r>
              <a:rPr lang="en-US" b="1" dirty="0"/>
              <a:t>Parameter Refinement</a:t>
            </a:r>
            <a:r>
              <a:rPr lang="en-US" dirty="0"/>
              <a:t>: More aggressive intervention, adaptive phase transitions</a:t>
            </a:r>
          </a:p>
          <a:p>
            <a:r>
              <a:rPr lang="en-US" b="1" dirty="0"/>
              <a:t>Minimal Topology Start</a:t>
            </a:r>
            <a:r>
              <a:rPr lang="en-US" dirty="0"/>
              <a:t>: True NEAT-style sparse initial networks</a:t>
            </a:r>
          </a:p>
          <a:p>
            <a:r>
              <a:rPr lang="en-US" b="1" dirty="0"/>
              <a:t>Task Diversity</a:t>
            </a:r>
            <a:r>
              <a:rPr lang="en-US" dirty="0"/>
              <a:t>: Climbing, jumping, carrying - test robustness across domains</a:t>
            </a:r>
          </a:p>
          <a:p>
            <a:r>
              <a:rPr lang="en-US" b="1" dirty="0" err="1"/>
              <a:t>HyperNEAT</a:t>
            </a:r>
            <a:r>
              <a:rPr lang="en-US" dirty="0"/>
              <a:t>: Exploit geometric regularities for scalable body plans</a:t>
            </a:r>
          </a:p>
          <a:p>
            <a:r>
              <a:rPr lang="en-US" b="1" dirty="0"/>
              <a:t>Degradation Studies</a:t>
            </a:r>
            <a:r>
              <a:rPr lang="en-US" dirty="0"/>
              <a:t>: How controllers adapt to damage and component failure</a:t>
            </a:r>
          </a:p>
        </p:txBody>
      </p:sp>
      <p:sp>
        <p:nvSpPr>
          <p:cNvPr id="3" name="TextBox 2">
            <a:extLst>
              <a:ext uri="{FF2B5EF4-FFF2-40B4-BE49-F238E27FC236}">
                <a16:creationId xmlns:a16="http://schemas.microsoft.com/office/drawing/2014/main" id="{4A7BF749-8278-C6EB-381A-585D197A735D}"/>
              </a:ext>
            </a:extLst>
          </p:cNvPr>
          <p:cNvSpPr txBox="1"/>
          <p:nvPr/>
        </p:nvSpPr>
        <p:spPr>
          <a:xfrm>
            <a:off x="11811000" y="6504087"/>
            <a:ext cx="381000" cy="307777"/>
          </a:xfrm>
          <a:prstGeom prst="rect">
            <a:avLst/>
          </a:prstGeom>
          <a:noFill/>
        </p:spPr>
        <p:txBody>
          <a:bodyPr wrap="square">
            <a:spAutoFit/>
          </a:bodyPr>
          <a:lstStyle/>
          <a:p>
            <a:r>
              <a:rPr lang="en-US" sz="1400" dirty="0">
                <a:solidFill>
                  <a:schemeClr val="bg1"/>
                </a:solidFill>
              </a:rPr>
              <a:t>17</a:t>
            </a:r>
          </a:p>
        </p:txBody>
      </p:sp>
    </p:spTree>
    <p:extLst>
      <p:ext uri="{BB962C8B-B14F-4D97-AF65-F5344CB8AC3E}">
        <p14:creationId xmlns:p14="http://schemas.microsoft.com/office/powerpoint/2010/main" val="1822253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2534</TotalTime>
  <Words>1008</Words>
  <Application>Microsoft Office PowerPoint</Application>
  <PresentationFormat>Widescreen</PresentationFormat>
  <Paragraphs>154</Paragraphs>
  <Slides>18</Slides>
  <Notes>12</Notes>
  <HiddenSlides>0</HiddenSlides>
  <MMClips>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Coevolving Neural Networks and Body Morphologies for Soft Robotics using EvolutionGym</vt:lpstr>
      <vt:lpstr>Introduction</vt:lpstr>
      <vt:lpstr>Introduction</vt:lpstr>
      <vt:lpstr>Introduction</vt:lpstr>
      <vt:lpstr>Research Questions</vt:lpstr>
      <vt:lpstr>Methodology</vt:lpstr>
      <vt:lpstr>Random Control (f=3.68)</vt:lpstr>
      <vt:lpstr>Neural Network – Mutation (f=3.05)</vt:lpstr>
      <vt:lpstr>Neural Network – Crossover (f=3.26)</vt:lpstr>
      <vt:lpstr>Speciation – Early Champ (f=3.57)</vt:lpstr>
      <vt:lpstr>Speciation – Protected Niche (f=1.17)</vt:lpstr>
      <vt:lpstr>Speciation – Niche Descendant (f=4.18)</vt:lpstr>
      <vt:lpstr>Improved Sensation (f=4.39)</vt:lpstr>
      <vt:lpstr>Enable/Activation Functions (f=5.14)</vt:lpstr>
      <vt:lpstr>Dynamic Parameter Scheduling (f=5.61)</vt:lpstr>
      <vt:lpstr>Results and Discussion</vt:lpstr>
      <vt:lpstr>Challenges and Risks</vt:lpstr>
      <vt:lpstr>Conclusion and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Branson</dc:creator>
  <cp:lastModifiedBy>Matthew Branson</cp:lastModifiedBy>
  <cp:revision>25</cp:revision>
  <dcterms:created xsi:type="dcterms:W3CDTF">2025-06-23T13:04:41Z</dcterms:created>
  <dcterms:modified xsi:type="dcterms:W3CDTF">2025-07-22T04:06:56Z</dcterms:modified>
</cp:coreProperties>
</file>